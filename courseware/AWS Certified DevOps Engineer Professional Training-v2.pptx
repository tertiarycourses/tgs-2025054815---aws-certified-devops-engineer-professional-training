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rtiarycourses/TGS-2025054815---AWS-Certified-DevOps-Engineer-Professional-Training/tree/main/lab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lms-tms.tertiaryinfotech.com/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s.tertiaryinfotech.com/practice-exams/aws/aws-dop-c02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B1EFB4-5201-4A32-B54C-E051F61FD8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191750" y="514350"/>
            <a:ext cx="1047750" cy="1047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3173E3A-EC63-4446-BD8D-A2066E11F094}"/>
              </a:ext>
            </a:extLst>
          </p:cNvPr>
          <p:cNvSpPr>
            <a:spLocks noGrp="1"/>
          </p:cNvSpPr>
          <p:nvPr/>
        </p:nvSpPr>
        <p:spPr>
          <a:xfrm>
            <a:off x="723900" y="6667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1F6FEB"/>
                </a:solidFill>
              </a:defRPr>
            </a:pPr>
            <a:r>
              <a:rPr sz="1200" b="1">
                <a:solidFill>
                  <a:srgbClr val="1F6FEB"/>
                </a:solidFill>
              </a:rPr>
              <a:t>PROFESSIONAL TRAINING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C8B5D1-9D1F-426D-9CA2-69F3D91F467E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9239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AWS Certified DevOps Engineer Professional Training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5F68ED-51CE-458E-9311-31B617793D26}"/>
              </a:ext>
            </a:extLst>
          </p:cNvPr>
          <p:cNvSpPr>
            <a:spLocks noGrp="1"/>
          </p:cNvSpPr>
          <p:nvPr/>
        </p:nvSpPr>
        <p:spPr>
          <a:xfrm>
            <a:off x="723900" y="3143250"/>
            <a:ext cx="428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0B981"/>
                </a:solidFill>
              </a:defRPr>
            </a:pPr>
            <a:r>
              <a:rPr sz="1950" b="1">
                <a:solidFill>
                  <a:srgbClr val="10B981"/>
                </a:solidFill>
              </a:rPr>
              <a:t>TGS-2025054815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AC97C3-ABEA-4A5D-A13D-71B3D783D95A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6667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Tertiary Infotech Academy Pte Ltd</a:t>
            </a:r>
          </a:p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UEN: 201200696W</a:t>
            </a:r>
          </a:p>
          <a:p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Trainer: Dr. Alfred Ang | v2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6A3507-7A7A-4C31-8C46-5A94A326D31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A057F4-53A2-4181-A1DE-6B534DBB4B87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6B6862-C5FF-4307-A62C-B8A18829B5C5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0734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CC2226E-E582-4E0D-89AB-EDAC20CE99D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ADMINISTRATION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40FF8A-2B37-4B0C-AC06-B8240294FAE0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Digital Attendance (TRAQOM · SSG)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12BCDD-433F-4BA3-82FD-EC39CC61A442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B42947-BAA3-4C86-935C-663C11081503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092D4E-9142-47FB-967E-F599F87B802D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E3BF73-CE8C-447B-9902-00E39B1D2E2F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75D9AD-8596-4ABD-A301-1899437F46D4}"/>
              </a:ext>
            </a:extLst>
          </p:cNvPr>
          <p:cNvSpPr>
            <a:spLocks noGrp="1"/>
          </p:cNvSpPr>
          <p:nvPr/>
        </p:nvSpPr>
        <p:spPr>
          <a:xfrm>
            <a:off x="142875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Scan the TRAQOM QR code shown by the trainer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5188FA4-10D2-47D3-BB8D-8A4B2A0B822B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430F65-39EC-4EF7-B2F8-E853F3E8B30B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E21E83-1532-4574-B9D8-B7529E2084B1}"/>
              </a:ext>
            </a:extLst>
          </p:cNvPr>
          <p:cNvSpPr>
            <a:spLocks noGrp="1"/>
          </p:cNvSpPr>
          <p:nvPr/>
        </p:nvSpPr>
        <p:spPr>
          <a:xfrm>
            <a:off x="630555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4B7F0D-122C-4DE6-89AD-C4C333A0B290}"/>
              </a:ext>
            </a:extLst>
          </p:cNvPr>
          <p:cNvSpPr>
            <a:spLocks noGrp="1"/>
          </p:cNvSpPr>
          <p:nvPr/>
        </p:nvSpPr>
        <p:spPr>
          <a:xfrm>
            <a:off x="689610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Record morning and afternoon attendance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6E7C8B-C3B1-4273-B378-F39B28A4509D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F557CE-D118-4FB4-8C8F-63B3B7751589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76200" cy="1257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2973F6-31C8-4213-8FC8-A227E40377A3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B92B04-3460-46DB-B9B2-72B225C170AD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Use the same registered learner details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3FD0650-CB63-40E4-97B7-17288FC49B1E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5C2D3C-3AF0-413F-BCE5-EDF38F171253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76200" cy="12573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8DE256-1CDA-483D-B4CD-8F7845C98D69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B92C4E-13C7-4080-B0F4-E08490CF8DA0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Tell the trainer immediately if attendance fails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3B9E62-623D-456E-9719-4B0745F3574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5AA4482-8ADE-444B-A9A8-8C60482FBBF9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A94CAC-EC6D-494E-A46B-E40D03A4F681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67337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1B892FA8-4497-4F22-A169-8C957D1CE69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</a:rPr>
              <a:t>YOUR TRAINER · GENERAL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1B5793-E281-4913-AB93-BC383FC5C327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About the Trainer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1856FC-D3A4-424C-A602-86EF653A4065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4B5563"/>
          </a:solidFill>
          <a:ln w="0">
            <a:solidFill>
              <a:srgbClr val="4B5563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622AB5-FDFB-4C3D-BC63-100BC3323C74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3333750" cy="4095750"/>
          </a:xfrm>
          <a:prstGeom prst="roundRect">
            <a:avLst>
              <a:gd name="adj" fmla="val 3429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18E355-BCE8-480B-81EE-2F1AC7D7E336}"/>
              </a:ext>
            </a:extLst>
          </p:cNvPr>
          <p:cNvSpPr>
            <a:spLocks noGrp="1"/>
          </p:cNvSpPr>
          <p:nvPr/>
        </p:nvSpPr>
        <p:spPr>
          <a:xfrm>
            <a:off x="1666875" y="2143125"/>
            <a:ext cx="1714500" cy="1714500"/>
          </a:xfrm>
          <a:prstGeom prst="ellipse">
            <a:avLst/>
          </a:prstGeom>
          <a:solidFill>
            <a:srgbClr val="687386"/>
          </a:solidFill>
          <a:ln w="0">
            <a:solidFill>
              <a:srgbClr val="687386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62C901-82F6-4F25-814B-3C79A1539AF2}"/>
              </a:ext>
            </a:extLst>
          </p:cNvPr>
          <p:cNvSpPr>
            <a:spLocks noGrp="1"/>
          </p:cNvSpPr>
          <p:nvPr/>
        </p:nvSpPr>
        <p:spPr>
          <a:xfrm>
            <a:off x="2095500" y="2609850"/>
            <a:ext cx="857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477744-935E-412E-AE8D-655F7AC920DE}"/>
              </a:ext>
            </a:extLst>
          </p:cNvPr>
          <p:cNvSpPr>
            <a:spLocks noGrp="1"/>
          </p:cNvSpPr>
          <p:nvPr/>
        </p:nvSpPr>
        <p:spPr>
          <a:xfrm>
            <a:off x="1190625" y="4143375"/>
            <a:ext cx="266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Your Trainer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76EE3A-1E65-4958-B410-2FDCB0BFA079}"/>
              </a:ext>
            </a:extLst>
          </p:cNvPr>
          <p:cNvSpPr>
            <a:spLocks noGrp="1"/>
          </p:cNvSpPr>
          <p:nvPr/>
        </p:nvSpPr>
        <p:spPr>
          <a:xfrm>
            <a:off x="1190625" y="4762500"/>
            <a:ext cx="2667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General Trainer template -</a:t>
            </a:r>
          </a:p>
          <a:p>
            <a:pPr algn="ctr"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to be completed by the trainer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1C328E8-3F87-4345-968D-7788F3DA48A2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6858000" cy="514350"/>
          </a:xfrm>
          <a:prstGeom prst="roundRect">
            <a:avLst>
              <a:gd name="adj" fmla="val 22222"/>
            </a:avLst>
          </a:prstGeom>
          <a:solidFill>
            <a:srgbClr val="F3F7FB"/>
          </a:solidFill>
          <a:ln w="9525">
            <a:solidFill>
              <a:srgbClr val="E4EAF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5FE580-F994-4526-A964-E7CFBDA7010C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85725" cy="51435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760763-CDE2-4759-8C63-2C8E6626F8ED}"/>
              </a:ext>
            </a:extLst>
          </p:cNvPr>
          <p:cNvSpPr>
            <a:spLocks noGrp="1"/>
          </p:cNvSpPr>
          <p:nvPr/>
        </p:nvSpPr>
        <p:spPr>
          <a:xfrm>
            <a:off x="4857750" y="18097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NAME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3E5149-12E2-402D-B11D-0E5AFBD7C097}"/>
              </a:ext>
            </a:extLst>
          </p:cNvPr>
          <p:cNvSpPr>
            <a:spLocks noGrp="1"/>
          </p:cNvSpPr>
          <p:nvPr/>
        </p:nvSpPr>
        <p:spPr>
          <a:xfrm>
            <a:off x="4857750" y="2066925"/>
            <a:ext cx="419100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68466DB-802C-4FE6-A283-73A8AA137F57}"/>
              </a:ext>
            </a:extLst>
          </p:cNvPr>
          <p:cNvSpPr>
            <a:spLocks noGrp="1"/>
          </p:cNvSpPr>
          <p:nvPr/>
        </p:nvSpPr>
        <p:spPr>
          <a:xfrm>
            <a:off x="4572000" y="2381250"/>
            <a:ext cx="6858000" cy="514350"/>
          </a:xfrm>
          <a:prstGeom prst="roundRect">
            <a:avLst>
              <a:gd name="adj" fmla="val 22222"/>
            </a:avLst>
          </a:prstGeom>
          <a:solidFill>
            <a:srgbClr val="F3F7FB"/>
          </a:solidFill>
          <a:ln w="9525">
            <a:solidFill>
              <a:srgbClr val="E4EAF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7081B8-FD85-4918-B72F-492EDEFBBC8B}"/>
              </a:ext>
            </a:extLst>
          </p:cNvPr>
          <p:cNvSpPr>
            <a:spLocks noGrp="1"/>
          </p:cNvSpPr>
          <p:nvPr/>
        </p:nvSpPr>
        <p:spPr>
          <a:xfrm>
            <a:off x="4572000" y="2381250"/>
            <a:ext cx="85725" cy="51435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C3CD84-CD9C-4814-92C9-82C580039062}"/>
              </a:ext>
            </a:extLst>
          </p:cNvPr>
          <p:cNvSpPr>
            <a:spLocks noGrp="1"/>
          </p:cNvSpPr>
          <p:nvPr/>
        </p:nvSpPr>
        <p:spPr>
          <a:xfrm>
            <a:off x="4857750" y="24765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TITLE / DESIGNATION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0DFB83-F383-4C92-BCAE-CA9F51BD26C7}"/>
              </a:ext>
            </a:extLst>
          </p:cNvPr>
          <p:cNvSpPr>
            <a:spLocks noGrp="1"/>
          </p:cNvSpPr>
          <p:nvPr/>
        </p:nvSpPr>
        <p:spPr>
          <a:xfrm>
            <a:off x="4857750" y="2733675"/>
            <a:ext cx="419100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96AB264-D595-42C8-BA7E-CD09FEC70D12}"/>
              </a:ext>
            </a:extLst>
          </p:cNvPr>
          <p:cNvSpPr>
            <a:spLocks noGrp="1"/>
          </p:cNvSpPr>
          <p:nvPr/>
        </p:nvSpPr>
        <p:spPr>
          <a:xfrm>
            <a:off x="4572000" y="3048000"/>
            <a:ext cx="6858000" cy="514350"/>
          </a:xfrm>
          <a:prstGeom prst="roundRect">
            <a:avLst>
              <a:gd name="adj" fmla="val 22222"/>
            </a:avLst>
          </a:prstGeom>
          <a:solidFill>
            <a:srgbClr val="F3F7FB"/>
          </a:solidFill>
          <a:ln w="9525">
            <a:solidFill>
              <a:srgbClr val="E4EAF1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3909A3-AFE6-4CF4-BC8D-8AAA2A7CD398}"/>
              </a:ext>
            </a:extLst>
          </p:cNvPr>
          <p:cNvSpPr>
            <a:spLocks noGrp="1"/>
          </p:cNvSpPr>
          <p:nvPr/>
        </p:nvSpPr>
        <p:spPr>
          <a:xfrm>
            <a:off x="4572000" y="3048000"/>
            <a:ext cx="85725" cy="51435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7D6BF7-138C-4A6F-838F-62410CB8DCF9}"/>
              </a:ext>
            </a:extLst>
          </p:cNvPr>
          <p:cNvSpPr>
            <a:spLocks noGrp="1"/>
          </p:cNvSpPr>
          <p:nvPr/>
        </p:nvSpPr>
        <p:spPr>
          <a:xfrm>
            <a:off x="4857750" y="31432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QUALIFICATIONS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37F5E0-D3B1-46CD-A3E3-F51890319CD1}"/>
              </a:ext>
            </a:extLst>
          </p:cNvPr>
          <p:cNvSpPr>
            <a:spLocks noGrp="1"/>
          </p:cNvSpPr>
          <p:nvPr/>
        </p:nvSpPr>
        <p:spPr>
          <a:xfrm>
            <a:off x="4857750" y="3400425"/>
            <a:ext cx="419100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639D9FE-1C52-4A70-AC9D-69A5A328023A}"/>
              </a:ext>
            </a:extLst>
          </p:cNvPr>
          <p:cNvSpPr>
            <a:spLocks noGrp="1"/>
          </p:cNvSpPr>
          <p:nvPr/>
        </p:nvSpPr>
        <p:spPr>
          <a:xfrm>
            <a:off x="4572000" y="3714750"/>
            <a:ext cx="6858000" cy="514350"/>
          </a:xfrm>
          <a:prstGeom prst="roundRect">
            <a:avLst>
              <a:gd name="adj" fmla="val 22222"/>
            </a:avLst>
          </a:prstGeom>
          <a:solidFill>
            <a:srgbClr val="F3F7FB"/>
          </a:solidFill>
          <a:ln w="9525">
            <a:solidFill>
              <a:srgbClr val="E4EAF1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837FA9-94B0-48CC-A139-4E835D18B7D3}"/>
              </a:ext>
            </a:extLst>
          </p:cNvPr>
          <p:cNvSpPr>
            <a:spLocks noGrp="1"/>
          </p:cNvSpPr>
          <p:nvPr/>
        </p:nvSpPr>
        <p:spPr>
          <a:xfrm>
            <a:off x="4572000" y="3714750"/>
            <a:ext cx="85725" cy="51435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B8C6E6-90CC-4288-AD33-DB0B95BEFD2C}"/>
              </a:ext>
            </a:extLst>
          </p:cNvPr>
          <p:cNvSpPr>
            <a:spLocks noGrp="1"/>
          </p:cNvSpPr>
          <p:nvPr/>
        </p:nvSpPr>
        <p:spPr>
          <a:xfrm>
            <a:off x="4857750" y="38100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AREAS OF EXPERTISE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CFF8805-4ECF-44D0-BF7C-0A066DF7B5B1}"/>
              </a:ext>
            </a:extLst>
          </p:cNvPr>
          <p:cNvSpPr>
            <a:spLocks noGrp="1"/>
          </p:cNvSpPr>
          <p:nvPr/>
        </p:nvSpPr>
        <p:spPr>
          <a:xfrm>
            <a:off x="4857750" y="4067175"/>
            <a:ext cx="419100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953819F-B8B6-4CE5-8C29-29A3825E24C0}"/>
              </a:ext>
            </a:extLst>
          </p:cNvPr>
          <p:cNvSpPr>
            <a:spLocks noGrp="1"/>
          </p:cNvSpPr>
          <p:nvPr/>
        </p:nvSpPr>
        <p:spPr>
          <a:xfrm>
            <a:off x="4572000" y="4381500"/>
            <a:ext cx="6858000" cy="514350"/>
          </a:xfrm>
          <a:prstGeom prst="roundRect">
            <a:avLst>
              <a:gd name="adj" fmla="val 22222"/>
            </a:avLst>
          </a:prstGeom>
          <a:solidFill>
            <a:srgbClr val="F3F7FB"/>
          </a:solidFill>
          <a:ln w="9525">
            <a:solidFill>
              <a:srgbClr val="E4EAF1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E71844-879E-45D6-AA49-C3262881FD42}"/>
              </a:ext>
            </a:extLst>
          </p:cNvPr>
          <p:cNvSpPr>
            <a:spLocks noGrp="1"/>
          </p:cNvSpPr>
          <p:nvPr/>
        </p:nvSpPr>
        <p:spPr>
          <a:xfrm>
            <a:off x="4572000" y="4381500"/>
            <a:ext cx="85725" cy="51435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227E06-B279-4608-851C-58E7825018EA}"/>
              </a:ext>
            </a:extLst>
          </p:cNvPr>
          <p:cNvSpPr>
            <a:spLocks noGrp="1"/>
          </p:cNvSpPr>
          <p:nvPr/>
        </p:nvSpPr>
        <p:spPr>
          <a:xfrm>
            <a:off x="4857750" y="44767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TRAINING &amp; INDUSTRY EXPERIENCE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95CA9CF-A77E-488C-9626-3726CFC25774}"/>
              </a:ext>
            </a:extLst>
          </p:cNvPr>
          <p:cNvSpPr>
            <a:spLocks noGrp="1"/>
          </p:cNvSpPr>
          <p:nvPr/>
        </p:nvSpPr>
        <p:spPr>
          <a:xfrm>
            <a:off x="4857750" y="4733925"/>
            <a:ext cx="419100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3B57D5C-C3BA-4BF1-A105-DB85F5F5231D}"/>
              </a:ext>
            </a:extLst>
          </p:cNvPr>
          <p:cNvSpPr>
            <a:spLocks noGrp="1"/>
          </p:cNvSpPr>
          <p:nvPr/>
        </p:nvSpPr>
        <p:spPr>
          <a:xfrm>
            <a:off x="4572000" y="5048250"/>
            <a:ext cx="6858000" cy="514350"/>
          </a:xfrm>
          <a:prstGeom prst="roundRect">
            <a:avLst>
              <a:gd name="adj" fmla="val 22222"/>
            </a:avLst>
          </a:prstGeom>
          <a:solidFill>
            <a:srgbClr val="F3F7FB"/>
          </a:solidFill>
          <a:ln w="9525">
            <a:solidFill>
              <a:srgbClr val="E4EAF1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23B5BB-063B-4917-BC01-83A5B4D8ECC7}"/>
              </a:ext>
            </a:extLst>
          </p:cNvPr>
          <p:cNvSpPr>
            <a:spLocks noGrp="1"/>
          </p:cNvSpPr>
          <p:nvPr/>
        </p:nvSpPr>
        <p:spPr>
          <a:xfrm>
            <a:off x="4572000" y="5048250"/>
            <a:ext cx="85725" cy="51435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1635D8-C186-408D-A689-D6C7D1F47DB3}"/>
              </a:ext>
            </a:extLst>
          </p:cNvPr>
          <p:cNvSpPr>
            <a:spLocks noGrp="1"/>
          </p:cNvSpPr>
          <p:nvPr/>
        </p:nvSpPr>
        <p:spPr>
          <a:xfrm>
            <a:off x="4857750" y="514350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CONTACT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02ABF5-4A60-47D9-A7C1-30F45E462861}"/>
              </a:ext>
            </a:extLst>
          </p:cNvPr>
          <p:cNvSpPr>
            <a:spLocks noGrp="1"/>
          </p:cNvSpPr>
          <p:nvPr/>
        </p:nvSpPr>
        <p:spPr>
          <a:xfrm>
            <a:off x="4857750" y="5400675"/>
            <a:ext cx="4191000" cy="9525"/>
          </a:xfrm>
          <a:prstGeom prst="rect">
            <a:avLst/>
          </a:prstGeom>
          <a:solidFill>
            <a:srgbClr val="D7DEE8"/>
          </a:solidFill>
          <a:ln w="0">
            <a:solidFill>
              <a:srgbClr val="D7DEE8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5E83A2-5E99-4DD2-9FC4-C52E58A6381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4FECE1B-3255-4E19-9AF5-1D3B491F1E60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A8D790-EEE7-4DC5-B072-06C1A84FFCE8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46808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05E8094-7236-447C-A358-BAE6E272FC4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YOUR TRAINER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25B023-0365-46B0-B991-398DDC5CCFD7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About the Trainer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2AB111-5920-4CF2-8836-B654557B2123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02B7E9-9EED-4DAE-B2B9-AC8778B70334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3333750" cy="4095750"/>
          </a:xfrm>
          <a:prstGeom prst="roundRect">
            <a:avLst>
              <a:gd name="adj" fmla="val 3429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AFF395-6CD1-47C2-BE81-7F67D3FFB83B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3333750" cy="9525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A625B9-DA47-4A25-B6EF-54DCA11637E0}"/>
              </a:ext>
            </a:extLst>
          </p:cNvPr>
          <p:cNvSpPr>
            <a:spLocks noGrp="1"/>
          </p:cNvSpPr>
          <p:nvPr/>
        </p:nvSpPr>
        <p:spPr>
          <a:xfrm>
            <a:off x="1666875" y="2143125"/>
            <a:ext cx="1714500" cy="1714500"/>
          </a:xfrm>
          <a:prstGeom prst="ellipse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05E868-75CB-4457-83B5-DCB8C432D15C}"/>
              </a:ext>
            </a:extLst>
          </p:cNvPr>
          <p:cNvSpPr>
            <a:spLocks noGrp="1"/>
          </p:cNvSpPr>
          <p:nvPr/>
        </p:nvSpPr>
        <p:spPr>
          <a:xfrm>
            <a:off x="2047875" y="2647950"/>
            <a:ext cx="952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98B012-9CB3-453F-ADAD-48210382A800}"/>
              </a:ext>
            </a:extLst>
          </p:cNvPr>
          <p:cNvSpPr>
            <a:spLocks noGrp="1"/>
          </p:cNvSpPr>
          <p:nvPr/>
        </p:nvSpPr>
        <p:spPr>
          <a:xfrm>
            <a:off x="1143000" y="409575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Dr. Alfred Ang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D98B54-6FE8-482F-AA84-262AF83D877C}"/>
              </a:ext>
            </a:extLst>
          </p:cNvPr>
          <p:cNvSpPr>
            <a:spLocks noGrp="1"/>
          </p:cNvSpPr>
          <p:nvPr/>
        </p:nvSpPr>
        <p:spPr>
          <a:xfrm>
            <a:off x="1143000" y="4714875"/>
            <a:ext cx="276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Principal Trainer</a:t>
            </a:r>
          </a:p>
          <a:p>
            <a:pPr algn="ctr">
              <a:defRPr sz="1275" b="1">
                <a:solidFill>
                  <a:srgbClr val="4B5563"/>
                </a:solidFill>
              </a:defRPr>
            </a:pPr>
            <a:r>
              <a:rPr sz="1275" b="1">
                <a:solidFill>
                  <a:srgbClr val="4B5563"/>
                </a:solidFill>
              </a:rPr>
              <a:t>Tertiary Infotech Academy Pte. Ltd.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C7F444-ECA3-4305-82D0-B402D5D1F89B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6858000" cy="762000"/>
          </a:xfrm>
          <a:prstGeom prst="roundRect">
            <a:avLst>
              <a:gd name="adj" fmla="val 15000"/>
            </a:avLst>
          </a:prstGeom>
          <a:solidFill>
            <a:srgbClr val="F3F7FB"/>
          </a:solidFill>
          <a:ln w="9525">
            <a:solidFill>
              <a:srgbClr val="E4EAF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F7F447-8FD7-469B-86B2-C161571317C1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85725" cy="7620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A51B78-BD4A-4AAC-864A-BADA04D0BD03}"/>
              </a:ext>
            </a:extLst>
          </p:cNvPr>
          <p:cNvSpPr>
            <a:spLocks noGrp="1"/>
          </p:cNvSpPr>
          <p:nvPr/>
        </p:nvSpPr>
        <p:spPr>
          <a:xfrm>
            <a:off x="4857750" y="1838325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ROLE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015134-E6F0-4317-A3C2-C8F378A28030}"/>
              </a:ext>
            </a:extLst>
          </p:cNvPr>
          <p:cNvSpPr>
            <a:spLocks noGrp="1"/>
          </p:cNvSpPr>
          <p:nvPr/>
        </p:nvSpPr>
        <p:spPr>
          <a:xfrm>
            <a:off x="4857750" y="2085975"/>
            <a:ext cx="619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Principal Trainer, Tertiary Infotech Academy Pte. Ltd.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FF6DCF2-F79A-45A3-9D6C-0A9A17A3A089}"/>
              </a:ext>
            </a:extLst>
          </p:cNvPr>
          <p:cNvSpPr>
            <a:spLocks noGrp="1"/>
          </p:cNvSpPr>
          <p:nvPr/>
        </p:nvSpPr>
        <p:spPr>
          <a:xfrm>
            <a:off x="4572000" y="2686050"/>
            <a:ext cx="6858000" cy="762000"/>
          </a:xfrm>
          <a:prstGeom prst="roundRect">
            <a:avLst>
              <a:gd name="adj" fmla="val 15000"/>
            </a:avLst>
          </a:prstGeom>
          <a:solidFill>
            <a:srgbClr val="F3F7FB"/>
          </a:solidFill>
          <a:ln w="9525">
            <a:solidFill>
              <a:srgbClr val="E4EAF1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65AAC0-1B04-4C1F-A185-6E45D6716E79}"/>
              </a:ext>
            </a:extLst>
          </p:cNvPr>
          <p:cNvSpPr>
            <a:spLocks noGrp="1"/>
          </p:cNvSpPr>
          <p:nvPr/>
        </p:nvSpPr>
        <p:spPr>
          <a:xfrm>
            <a:off x="4572000" y="2686050"/>
            <a:ext cx="85725" cy="7620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58D498-0118-4E0E-B761-060E315166BD}"/>
              </a:ext>
            </a:extLst>
          </p:cNvPr>
          <p:cNvSpPr>
            <a:spLocks noGrp="1"/>
          </p:cNvSpPr>
          <p:nvPr/>
        </p:nvSpPr>
        <p:spPr>
          <a:xfrm>
            <a:off x="4857750" y="2809875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QUALIFICATIONS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07C98B-7B8D-4D9A-9288-EE960010B907}"/>
              </a:ext>
            </a:extLst>
          </p:cNvPr>
          <p:cNvSpPr>
            <a:spLocks noGrp="1"/>
          </p:cNvSpPr>
          <p:nvPr/>
        </p:nvSpPr>
        <p:spPr>
          <a:xfrm>
            <a:off x="4857750" y="3057525"/>
            <a:ext cx="619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PhD - specialises in AI, automation and software engineering.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217B35B-D991-4F97-8A11-57F65B7C1349}"/>
              </a:ext>
            </a:extLst>
          </p:cNvPr>
          <p:cNvSpPr>
            <a:spLocks noGrp="1"/>
          </p:cNvSpPr>
          <p:nvPr/>
        </p:nvSpPr>
        <p:spPr>
          <a:xfrm>
            <a:off x="4572000" y="3657600"/>
            <a:ext cx="6858000" cy="762000"/>
          </a:xfrm>
          <a:prstGeom prst="roundRect">
            <a:avLst>
              <a:gd name="adj" fmla="val 15000"/>
            </a:avLst>
          </a:prstGeom>
          <a:solidFill>
            <a:srgbClr val="F3F7FB"/>
          </a:solidFill>
          <a:ln w="9525">
            <a:solidFill>
              <a:srgbClr val="E4EAF1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1FCA0A-ABE5-45B7-8348-58A38E3C77F9}"/>
              </a:ext>
            </a:extLst>
          </p:cNvPr>
          <p:cNvSpPr>
            <a:spLocks noGrp="1"/>
          </p:cNvSpPr>
          <p:nvPr/>
        </p:nvSpPr>
        <p:spPr>
          <a:xfrm>
            <a:off x="4572000" y="3657600"/>
            <a:ext cx="85725" cy="7620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600257-51D9-4440-A7C3-BE7AF6CCE02E}"/>
              </a:ext>
            </a:extLst>
          </p:cNvPr>
          <p:cNvSpPr>
            <a:spLocks noGrp="1"/>
          </p:cNvSpPr>
          <p:nvPr/>
        </p:nvSpPr>
        <p:spPr>
          <a:xfrm>
            <a:off x="4857750" y="3781425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DELIVERS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9E8790-0CA5-4F9A-BCB8-04133742ABAC}"/>
              </a:ext>
            </a:extLst>
          </p:cNvPr>
          <p:cNvSpPr>
            <a:spLocks noGrp="1"/>
          </p:cNvSpPr>
          <p:nvPr/>
        </p:nvSpPr>
        <p:spPr>
          <a:xfrm>
            <a:off x="4857750" y="4029075"/>
            <a:ext cx="619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WSQ courses on cloud, DevOps, automation and app development.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184DCEE-AA6B-4323-853E-789511CF3BEF}"/>
              </a:ext>
            </a:extLst>
          </p:cNvPr>
          <p:cNvSpPr>
            <a:spLocks noGrp="1"/>
          </p:cNvSpPr>
          <p:nvPr/>
        </p:nvSpPr>
        <p:spPr>
          <a:xfrm>
            <a:off x="4572000" y="4629150"/>
            <a:ext cx="6858000" cy="762000"/>
          </a:xfrm>
          <a:prstGeom prst="roundRect">
            <a:avLst>
              <a:gd name="adj" fmla="val 15000"/>
            </a:avLst>
          </a:prstGeom>
          <a:solidFill>
            <a:srgbClr val="F3F7FB"/>
          </a:solidFill>
          <a:ln w="9525">
            <a:solidFill>
              <a:srgbClr val="E4EAF1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499FE7-BA74-4E04-9971-45B486CB7C47}"/>
              </a:ext>
            </a:extLst>
          </p:cNvPr>
          <p:cNvSpPr>
            <a:spLocks noGrp="1"/>
          </p:cNvSpPr>
          <p:nvPr/>
        </p:nvSpPr>
        <p:spPr>
          <a:xfrm>
            <a:off x="4572000" y="4629150"/>
            <a:ext cx="85725" cy="7620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A539FC-4A74-4123-B001-6D6DD8C293A3}"/>
              </a:ext>
            </a:extLst>
          </p:cNvPr>
          <p:cNvSpPr>
            <a:spLocks noGrp="1"/>
          </p:cNvSpPr>
          <p:nvPr/>
        </p:nvSpPr>
        <p:spPr>
          <a:xfrm>
            <a:off x="4857750" y="4752975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FOUNDER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C4B0BC-4E93-4F05-811B-25AE7E631230}"/>
              </a:ext>
            </a:extLst>
          </p:cNvPr>
          <p:cNvSpPr>
            <a:spLocks noGrp="1"/>
          </p:cNvSpPr>
          <p:nvPr/>
        </p:nvSpPr>
        <p:spPr>
          <a:xfrm>
            <a:off x="4857750" y="5000625"/>
            <a:ext cx="619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Founder and lead instructor at Tertiary Infotech / Tertiary Courses.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08383A-0F39-43D2-9BA4-0975659F879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15D283-6843-4D24-97C8-2930334585AF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2D95863-7ACF-4F30-9149-0F6509F279BE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2506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D55071A7-361B-48A1-99BE-F918637B2DB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WELCOME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5F626F-1348-4672-85ED-92437C88D546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Learner Introduction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876CB6-4715-4331-9576-BAC68035836E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CE7B66-026E-4B9C-A42D-F1049C798DD7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DC1ABE-66FB-4C63-9A3B-7D55F194D39C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12F6F1-573D-43FF-83A7-02736314C709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738079-044F-476E-915B-BE5A853EAD4A}"/>
              </a:ext>
            </a:extLst>
          </p:cNvPr>
          <p:cNvSpPr>
            <a:spLocks noGrp="1"/>
          </p:cNvSpPr>
          <p:nvPr/>
        </p:nvSpPr>
        <p:spPr>
          <a:xfrm>
            <a:off x="142875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Your role and organisation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D92312-46AB-43D6-9F25-34BB3220AB76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BFD40F-D1BC-442E-A140-DB8FF93BA5D1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A68D1D-FEF3-48DB-AB95-B9785D03E95B}"/>
              </a:ext>
            </a:extLst>
          </p:cNvPr>
          <p:cNvSpPr>
            <a:spLocks noGrp="1"/>
          </p:cNvSpPr>
          <p:nvPr/>
        </p:nvSpPr>
        <p:spPr>
          <a:xfrm>
            <a:off x="630555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97D96D-8123-4490-8810-B7F16CB72D0A}"/>
              </a:ext>
            </a:extLst>
          </p:cNvPr>
          <p:cNvSpPr>
            <a:spLocks noGrp="1"/>
          </p:cNvSpPr>
          <p:nvPr/>
        </p:nvSpPr>
        <p:spPr>
          <a:xfrm>
            <a:off x="689610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Your AWS and DevOps experience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0039C11-6204-4200-8247-0DD82C7F2809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2876B1-D94B-46C4-971A-5FAD779CEB84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76200" cy="1257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65C876-D9C2-48F6-BDB4-35A788088B1D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F62A03-D736-46C7-A64D-9D0B295BA692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One CI/CD challenge you want to solve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C76805A-4304-4EAE-AD2F-5BA514D854C4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255106-9FB0-4BBE-87CB-9040E6A71106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76200" cy="12573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81AD0B-4ED2-4414-8E2F-DE739A6734F8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ECA27D-D4D9-4142-B8B2-EAE364BE4F25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Your target exam date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76D873-2FDA-4DC8-B613-ED894A6141E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DE6BF3-2A6E-42AB-824A-8D4516BCF272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645F1F-656F-493E-9BC7-CF57FFF06CE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67587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9868B988-F093-416F-B806-0FD50175211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HOUSEKEEPING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CBB575-0D4C-47E1-8E78-C8C80883DB16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Ground Rules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F8C2B2-E3E6-4DB1-9544-8E03E070E1B9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B111DE-E850-4136-9965-7203CC2B4E14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5191125" cy="1190625"/>
          </a:xfrm>
          <a:prstGeom prst="roundRect">
            <a:avLst>
              <a:gd name="adj" fmla="val 9600"/>
            </a:avLst>
          </a:prstGeom>
          <a:solidFill>
            <a:srgbClr val="F3F7FB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D7DBE4-C7D6-439D-B211-A9B85CC5F574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76200" cy="1190625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0841F36-1027-4696-8CF1-19F8B93DA149}"/>
              </a:ext>
            </a:extLst>
          </p:cNvPr>
          <p:cNvSpPr>
            <a:spLocks noGrp="1"/>
          </p:cNvSpPr>
          <p:nvPr/>
        </p:nvSpPr>
        <p:spPr>
          <a:xfrm>
            <a:off x="895350" y="1914525"/>
            <a:ext cx="571500" cy="571500"/>
          </a:xfrm>
          <a:prstGeom prst="ellipse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04D5E0-98E6-4473-88E3-EF9582A4EF87}"/>
              </a:ext>
            </a:extLst>
          </p:cNvPr>
          <p:cNvSpPr>
            <a:spLocks noGrp="1"/>
          </p:cNvSpPr>
          <p:nvPr/>
        </p:nvSpPr>
        <p:spPr>
          <a:xfrm>
            <a:off x="1019175" y="20288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3D890D-BFBB-4048-922D-2F0E5BBD2213}"/>
              </a:ext>
            </a:extLst>
          </p:cNvPr>
          <p:cNvSpPr>
            <a:spLocks noGrp="1"/>
          </p:cNvSpPr>
          <p:nvPr/>
        </p:nvSpPr>
        <p:spPr>
          <a:xfrm>
            <a:off x="1676400" y="1933575"/>
            <a:ext cx="3762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Set your mobile phone to silent mode.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484AD3-216E-45FF-964F-4AC166B375A7}"/>
              </a:ext>
            </a:extLst>
          </p:cNvPr>
          <p:cNvSpPr>
            <a:spLocks noGrp="1"/>
          </p:cNvSpPr>
          <p:nvPr/>
        </p:nvSpPr>
        <p:spPr>
          <a:xfrm>
            <a:off x="6086475" y="1571625"/>
            <a:ext cx="5191125" cy="1190625"/>
          </a:xfrm>
          <a:prstGeom prst="roundRect">
            <a:avLst>
              <a:gd name="adj" fmla="val 9600"/>
            </a:avLst>
          </a:prstGeom>
          <a:solidFill>
            <a:srgbClr val="F3F7FB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221EB9-1AEB-4FA7-9B42-059FA3825836}"/>
              </a:ext>
            </a:extLst>
          </p:cNvPr>
          <p:cNvSpPr>
            <a:spLocks noGrp="1"/>
          </p:cNvSpPr>
          <p:nvPr/>
        </p:nvSpPr>
        <p:spPr>
          <a:xfrm>
            <a:off x="6086475" y="1571625"/>
            <a:ext cx="76200" cy="1190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573A588-55EC-4BAD-A09E-F0360DFEE1F6}"/>
              </a:ext>
            </a:extLst>
          </p:cNvPr>
          <p:cNvSpPr>
            <a:spLocks noGrp="1"/>
          </p:cNvSpPr>
          <p:nvPr/>
        </p:nvSpPr>
        <p:spPr>
          <a:xfrm>
            <a:off x="6372225" y="1914525"/>
            <a:ext cx="571500" cy="571500"/>
          </a:xfrm>
          <a:prstGeom prst="ellipse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C39C69-E905-4134-99CC-6D0E3B5F2326}"/>
              </a:ext>
            </a:extLst>
          </p:cNvPr>
          <p:cNvSpPr>
            <a:spLocks noGrp="1"/>
          </p:cNvSpPr>
          <p:nvPr/>
        </p:nvSpPr>
        <p:spPr>
          <a:xfrm>
            <a:off x="6496050" y="20288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AF39FA-5064-4B1D-9343-D8DEF2491A61}"/>
              </a:ext>
            </a:extLst>
          </p:cNvPr>
          <p:cNvSpPr>
            <a:spLocks noGrp="1"/>
          </p:cNvSpPr>
          <p:nvPr/>
        </p:nvSpPr>
        <p:spPr>
          <a:xfrm>
            <a:off x="7153275" y="1933575"/>
            <a:ext cx="3762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Participate actively - no question is too small.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83C8426-91AF-46F3-A107-0A6C32E6C1CB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5191125" cy="1190625"/>
          </a:xfrm>
          <a:prstGeom prst="roundRect">
            <a:avLst>
              <a:gd name="adj" fmla="val 9600"/>
            </a:avLst>
          </a:prstGeom>
          <a:solidFill>
            <a:srgbClr val="F3F7FB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B26147-51F6-4F57-A8D2-C237C0F633B3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76200" cy="1190625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42B79D4-328E-4103-9B0B-6B9D61E32EDA}"/>
              </a:ext>
            </a:extLst>
          </p:cNvPr>
          <p:cNvSpPr>
            <a:spLocks noGrp="1"/>
          </p:cNvSpPr>
          <p:nvPr/>
        </p:nvSpPr>
        <p:spPr>
          <a:xfrm>
            <a:off x="895350" y="3343275"/>
            <a:ext cx="571500" cy="571500"/>
          </a:xfrm>
          <a:prstGeom prst="ellipse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D85B75-6930-4BF7-92AF-328A9007D751}"/>
              </a:ext>
            </a:extLst>
          </p:cNvPr>
          <p:cNvSpPr>
            <a:spLocks noGrp="1"/>
          </p:cNvSpPr>
          <p:nvPr/>
        </p:nvSpPr>
        <p:spPr>
          <a:xfrm>
            <a:off x="1019175" y="345757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7C2E1D-30C0-4DFA-9341-646C137894DE}"/>
              </a:ext>
            </a:extLst>
          </p:cNvPr>
          <p:cNvSpPr>
            <a:spLocks noGrp="1"/>
          </p:cNvSpPr>
          <p:nvPr/>
        </p:nvSpPr>
        <p:spPr>
          <a:xfrm>
            <a:off x="1676400" y="3362325"/>
            <a:ext cx="3762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Mutual respect: agree to disagree.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2C19FB5-1067-4FB4-8DD6-B44385BF5716}"/>
              </a:ext>
            </a:extLst>
          </p:cNvPr>
          <p:cNvSpPr>
            <a:spLocks noGrp="1"/>
          </p:cNvSpPr>
          <p:nvPr/>
        </p:nvSpPr>
        <p:spPr>
          <a:xfrm>
            <a:off x="6086475" y="3000375"/>
            <a:ext cx="5191125" cy="1190625"/>
          </a:xfrm>
          <a:prstGeom prst="roundRect">
            <a:avLst>
              <a:gd name="adj" fmla="val 9600"/>
            </a:avLst>
          </a:prstGeom>
          <a:solidFill>
            <a:srgbClr val="F3F7FB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C00441-0F59-4AB1-9022-BDDC250526B5}"/>
              </a:ext>
            </a:extLst>
          </p:cNvPr>
          <p:cNvSpPr>
            <a:spLocks noGrp="1"/>
          </p:cNvSpPr>
          <p:nvPr/>
        </p:nvSpPr>
        <p:spPr>
          <a:xfrm>
            <a:off x="6086475" y="3000375"/>
            <a:ext cx="76200" cy="11906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4581EE5-7CDD-42CA-B132-8BCF9F97E73B}"/>
              </a:ext>
            </a:extLst>
          </p:cNvPr>
          <p:cNvSpPr>
            <a:spLocks noGrp="1"/>
          </p:cNvSpPr>
          <p:nvPr/>
        </p:nvSpPr>
        <p:spPr>
          <a:xfrm>
            <a:off x="6372225" y="3343275"/>
            <a:ext cx="571500" cy="57150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452980-225A-4F75-B6E6-57E1AECE0FCA}"/>
              </a:ext>
            </a:extLst>
          </p:cNvPr>
          <p:cNvSpPr>
            <a:spLocks noGrp="1"/>
          </p:cNvSpPr>
          <p:nvPr/>
        </p:nvSpPr>
        <p:spPr>
          <a:xfrm>
            <a:off x="6496050" y="345757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3FDFCA-3034-4752-9E61-4FBCD0E5145A}"/>
              </a:ext>
            </a:extLst>
          </p:cNvPr>
          <p:cNvSpPr>
            <a:spLocks noGrp="1"/>
          </p:cNvSpPr>
          <p:nvPr/>
        </p:nvSpPr>
        <p:spPr>
          <a:xfrm>
            <a:off x="7153275" y="3362325"/>
            <a:ext cx="3762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One conversation at a time.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6C11920-9EE1-41A7-8D5D-D799EE2206F9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5191125" cy="1190625"/>
          </a:xfrm>
          <a:prstGeom prst="roundRect">
            <a:avLst>
              <a:gd name="adj" fmla="val 9600"/>
            </a:avLst>
          </a:prstGeom>
          <a:solidFill>
            <a:srgbClr val="F3F7FB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195CCB-9E91-430C-909D-21CCC85C6AA3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76200" cy="1190625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5F5FA65-9D5B-4AEC-B564-DB56AD5BD12E}"/>
              </a:ext>
            </a:extLst>
          </p:cNvPr>
          <p:cNvSpPr>
            <a:spLocks noGrp="1"/>
          </p:cNvSpPr>
          <p:nvPr/>
        </p:nvSpPr>
        <p:spPr>
          <a:xfrm>
            <a:off x="895350" y="4772025"/>
            <a:ext cx="571500" cy="571500"/>
          </a:xfrm>
          <a:prstGeom prst="ellipse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CBA8D8-FD91-4C94-8F8C-48D65218B4F9}"/>
              </a:ext>
            </a:extLst>
          </p:cNvPr>
          <p:cNvSpPr>
            <a:spLocks noGrp="1"/>
          </p:cNvSpPr>
          <p:nvPr/>
        </p:nvSpPr>
        <p:spPr>
          <a:xfrm>
            <a:off x="1019175" y="48863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97156E-1683-49DB-9775-EA273C3165C4}"/>
              </a:ext>
            </a:extLst>
          </p:cNvPr>
          <p:cNvSpPr>
            <a:spLocks noGrp="1"/>
          </p:cNvSpPr>
          <p:nvPr/>
        </p:nvSpPr>
        <p:spPr>
          <a:xfrm>
            <a:off x="1676400" y="4791075"/>
            <a:ext cx="3762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Be punctual; return from breaks on time.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B6074F3-05CA-4A88-B4A8-DAA5261F51F5}"/>
              </a:ext>
            </a:extLst>
          </p:cNvPr>
          <p:cNvSpPr>
            <a:spLocks noGrp="1"/>
          </p:cNvSpPr>
          <p:nvPr/>
        </p:nvSpPr>
        <p:spPr>
          <a:xfrm>
            <a:off x="6086475" y="4429125"/>
            <a:ext cx="5191125" cy="1190625"/>
          </a:xfrm>
          <a:prstGeom prst="roundRect">
            <a:avLst>
              <a:gd name="adj" fmla="val 9600"/>
            </a:avLst>
          </a:prstGeom>
          <a:solidFill>
            <a:srgbClr val="F3F7FB"/>
          </a:solidFill>
          <a:ln w="9525">
            <a:solidFill>
              <a:srgbClr val="DDE4EC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6508D1-EE94-495C-B52E-521912A0E2F1}"/>
              </a:ext>
            </a:extLst>
          </p:cNvPr>
          <p:cNvSpPr>
            <a:spLocks noGrp="1"/>
          </p:cNvSpPr>
          <p:nvPr/>
        </p:nvSpPr>
        <p:spPr>
          <a:xfrm>
            <a:off x="6086475" y="4429125"/>
            <a:ext cx="76200" cy="1190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696C72F-A8D2-41EB-A6E7-148CC47D86DE}"/>
              </a:ext>
            </a:extLst>
          </p:cNvPr>
          <p:cNvSpPr>
            <a:spLocks noGrp="1"/>
          </p:cNvSpPr>
          <p:nvPr/>
        </p:nvSpPr>
        <p:spPr>
          <a:xfrm>
            <a:off x="6372225" y="4772025"/>
            <a:ext cx="571500" cy="571500"/>
          </a:xfrm>
          <a:prstGeom prst="ellipse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8C3249-C172-472D-9F92-0CCED7F87C5F}"/>
              </a:ext>
            </a:extLst>
          </p:cNvPr>
          <p:cNvSpPr>
            <a:spLocks noGrp="1"/>
          </p:cNvSpPr>
          <p:nvPr/>
        </p:nvSpPr>
        <p:spPr>
          <a:xfrm>
            <a:off x="6496050" y="4886325"/>
            <a:ext cx="323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2CE3DF-744B-4B86-82ED-B151CD3F0C5D}"/>
              </a:ext>
            </a:extLst>
          </p:cNvPr>
          <p:cNvSpPr>
            <a:spLocks noGrp="1"/>
          </p:cNvSpPr>
          <p:nvPr/>
        </p:nvSpPr>
        <p:spPr>
          <a:xfrm>
            <a:off x="7153275" y="4791075"/>
            <a:ext cx="37623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75% attendance is required.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D834F8-79C7-4C82-A56C-9C1A19D41A0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41A225-32DF-4EDE-9220-ABF0B65AC6FF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F3FD19-7BEC-41B7-8D10-035DE746F930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3541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865FBE2-746B-486C-BAA7-21DC84C3D8D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COURSE ROADMAP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83FD9F-08BB-48D6-80DD-CB628A4F51B4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Two-day learning progression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5921B1-5368-4099-A636-9904F2C2FFEB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ADE3C4B-BC79-4D85-9D50-F8BE189D5CA1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3333750" cy="36195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65AE97-302B-48E2-AB54-AC4DDBCC2ED5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3333750" cy="114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03E203-C5DB-422C-BA0C-48F2EA199488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F6FEB"/>
                </a:solidFill>
              </a:defRPr>
            </a:pPr>
            <a:r>
              <a:rPr sz="2400" b="1">
                <a:solidFill>
                  <a:srgbClr val="1F6FEB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4DE852-1BA2-44E1-8857-3E4B89C56544}"/>
              </a:ext>
            </a:extLst>
          </p:cNvPr>
          <p:cNvSpPr>
            <a:spLocks noGrp="1"/>
          </p:cNvSpPr>
          <p:nvPr/>
        </p:nvSpPr>
        <p:spPr>
          <a:xfrm>
            <a:off x="857250" y="2714625"/>
            <a:ext cx="2838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Day 1: governance, IAM, infrastructure as code and CI/CD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C44C8E-2A51-4D74-92EF-3EA9A0B10169}"/>
              </a:ext>
            </a:extLst>
          </p:cNvPr>
          <p:cNvSpPr>
            <a:spLocks noGrp="1"/>
          </p:cNvSpPr>
          <p:nvPr/>
        </p:nvSpPr>
        <p:spPr>
          <a:xfrm>
            <a:off x="4248150" y="1714500"/>
            <a:ext cx="3333750" cy="36195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3932E4-2639-4E4D-A5D7-60F15BB9D220}"/>
              </a:ext>
            </a:extLst>
          </p:cNvPr>
          <p:cNvSpPr>
            <a:spLocks noGrp="1"/>
          </p:cNvSpPr>
          <p:nvPr/>
        </p:nvSpPr>
        <p:spPr>
          <a:xfrm>
            <a:off x="4248150" y="1714500"/>
            <a:ext cx="3333750" cy="114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C02019-092E-4773-844B-738749E43676}"/>
              </a:ext>
            </a:extLst>
          </p:cNvPr>
          <p:cNvSpPr>
            <a:spLocks noGrp="1"/>
          </p:cNvSpPr>
          <p:nvPr/>
        </p:nvSpPr>
        <p:spPr>
          <a:xfrm>
            <a:off x="4495800" y="20478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0B981"/>
                </a:solidFill>
              </a:defRPr>
            </a:pPr>
            <a:r>
              <a:rPr sz="2400" b="1">
                <a:solidFill>
                  <a:srgbClr val="10B981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9CD637-D40E-4322-AC5D-9DBC410D3C4A}"/>
              </a:ext>
            </a:extLst>
          </p:cNvPr>
          <p:cNvSpPr>
            <a:spLocks noGrp="1"/>
          </p:cNvSpPr>
          <p:nvPr/>
        </p:nvSpPr>
        <p:spPr>
          <a:xfrm>
            <a:off x="4495800" y="2714625"/>
            <a:ext cx="2838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Day 2: deployments, operations, observability, resilience, security and exam review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F1501C-DFDC-4300-B987-AC71C6EA4E3D}"/>
              </a:ext>
            </a:extLst>
          </p:cNvPr>
          <p:cNvSpPr>
            <a:spLocks noGrp="1"/>
          </p:cNvSpPr>
          <p:nvPr/>
        </p:nvSpPr>
        <p:spPr>
          <a:xfrm>
            <a:off x="7886700" y="1714500"/>
            <a:ext cx="3333750" cy="36195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BF6817-FAE3-47BB-900E-C52D089845DE}"/>
              </a:ext>
            </a:extLst>
          </p:cNvPr>
          <p:cNvSpPr>
            <a:spLocks noGrp="1"/>
          </p:cNvSpPr>
          <p:nvPr/>
        </p:nvSpPr>
        <p:spPr>
          <a:xfrm>
            <a:off x="7886700" y="1714500"/>
            <a:ext cx="3333750" cy="114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B230AC-D2BE-4A52-9D2B-9473017BD0DA}"/>
              </a:ext>
            </a:extLst>
          </p:cNvPr>
          <p:cNvSpPr>
            <a:spLocks noGrp="1"/>
          </p:cNvSpPr>
          <p:nvPr/>
        </p:nvSpPr>
        <p:spPr>
          <a:xfrm>
            <a:off x="8134350" y="20478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7C3AED"/>
                </a:solidFill>
              </a:defRPr>
            </a:pPr>
            <a:r>
              <a:rPr sz="2400" b="1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912000-79D6-499C-A948-BDA6A9F96060}"/>
              </a:ext>
            </a:extLst>
          </p:cNvPr>
          <p:cNvSpPr>
            <a:spLocks noGrp="1"/>
          </p:cNvSpPr>
          <p:nvPr/>
        </p:nvSpPr>
        <p:spPr>
          <a:xfrm>
            <a:off x="8134350" y="2714625"/>
            <a:ext cx="2838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Final 2 hours: written assessment and practical performance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8F3F9E-0206-4CE9-BC77-8EFB8FF3FB4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BB7F02-B9DA-4D1A-85D8-95177663F5DF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00088D-5231-4EF4-9F06-1ABB8995FAFA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1593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3F4DFF2-0597-4184-B298-A3592440485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LEARNING OUTCOMES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CA2CB7-3808-4417-9EFA-4A8CDF4A0E54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What you will be able to do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BEC395-DEE6-4B7A-9727-2D3DD10351BE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A24A80-0D33-473F-B451-4D50AC292DB2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FE22AA-9EC9-45C2-AE6A-056A4B40E6BF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951E0F-68D0-4815-B218-840562ED9F4C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F0E0DF-8685-4608-BD8E-2E4BFA8E7857}"/>
              </a:ext>
            </a:extLst>
          </p:cNvPr>
          <p:cNvSpPr>
            <a:spLocks noGrp="1"/>
          </p:cNvSpPr>
          <p:nvPr/>
        </p:nvSpPr>
        <p:spPr>
          <a:xfrm>
            <a:off x="142875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Automate secure SDLC workflows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050A29F-C037-4F3C-9335-9B4781B9C178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2DC2AA-0FD0-4B8E-A4E3-8D3808321E0D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082BF3-CF4B-4735-B4ED-DFC827362BFE}"/>
              </a:ext>
            </a:extLst>
          </p:cNvPr>
          <p:cNvSpPr>
            <a:spLocks noGrp="1"/>
          </p:cNvSpPr>
          <p:nvPr/>
        </p:nvSpPr>
        <p:spPr>
          <a:xfrm>
            <a:off x="630555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84D3C8-6B57-4D4E-A3E7-1721D6BAEC77}"/>
              </a:ext>
            </a:extLst>
          </p:cNvPr>
          <p:cNvSpPr>
            <a:spLocks noGrp="1"/>
          </p:cNvSpPr>
          <p:nvPr/>
        </p:nvSpPr>
        <p:spPr>
          <a:xfrm>
            <a:off x="689610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Implement infrastructure as code and detect drift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5E10BB3-BACF-49F0-8A76-DA3AC542B281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D7FBC2-4F09-40D5-8CE7-79A855529D3F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76200" cy="1257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9898CA-4D39-4036-B274-433F1EEA7BBF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ACAA55-F673-41D0-9920-C88294C32A0C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Select safe deployment strategies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6FF9612-1A21-4F93-87FC-697AE960F3DD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61D18C-A169-4A48-80D5-ADC7F8BC9DD4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76200" cy="12573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16511E-B6C8-41BA-B88B-107608F0311F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DAD909-4C56-4209-8236-B518CE0B1CE9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Operate fleets with Systems Manager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3F53241-4C4A-4FD8-B5A8-C9602728D681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B2E673-5596-4171-BE36-EABE2DDF8C65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9318EB-EBE5-492E-8CE7-8A8B42B711D9}"/>
              </a:ext>
            </a:extLst>
          </p:cNvPr>
          <p:cNvSpPr>
            <a:spLocks noGrp="1"/>
          </p:cNvSpPr>
          <p:nvPr/>
        </p:nvSpPr>
        <p:spPr>
          <a:xfrm>
            <a:off x="838200" y="46863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04C4ED-C516-4CE7-A5F7-D841CDE04DC9}"/>
              </a:ext>
            </a:extLst>
          </p:cNvPr>
          <p:cNvSpPr>
            <a:spLocks noGrp="1"/>
          </p:cNvSpPr>
          <p:nvPr/>
        </p:nvSpPr>
        <p:spPr>
          <a:xfrm>
            <a:off x="1428750" y="46482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Design observability and incident response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EA14B7F-7444-4548-BDA0-AB6768F63F24}"/>
              </a:ext>
            </a:extLst>
          </p:cNvPr>
          <p:cNvSpPr>
            <a:spLocks noGrp="1"/>
          </p:cNvSpPr>
          <p:nvPr/>
        </p:nvSpPr>
        <p:spPr>
          <a:xfrm>
            <a:off x="6076950" y="44767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5D93F8-4910-47E5-A947-BBBF9E9E26EB}"/>
              </a:ext>
            </a:extLst>
          </p:cNvPr>
          <p:cNvSpPr>
            <a:spLocks noGrp="1"/>
          </p:cNvSpPr>
          <p:nvPr/>
        </p:nvSpPr>
        <p:spPr>
          <a:xfrm>
            <a:off x="6076950" y="44767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5ADF7F-3121-4B51-A5D2-58B0FBF7A79F}"/>
              </a:ext>
            </a:extLst>
          </p:cNvPr>
          <p:cNvSpPr>
            <a:spLocks noGrp="1"/>
          </p:cNvSpPr>
          <p:nvPr/>
        </p:nvSpPr>
        <p:spPr>
          <a:xfrm>
            <a:off x="6305550" y="46863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C5BD10-0894-4BB9-B83C-0329171B6B58}"/>
              </a:ext>
            </a:extLst>
          </p:cNvPr>
          <p:cNvSpPr>
            <a:spLocks noGrp="1"/>
          </p:cNvSpPr>
          <p:nvPr/>
        </p:nvSpPr>
        <p:spPr>
          <a:xfrm>
            <a:off x="6896100" y="46482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Improve resilience, security and cost controls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7D09B4-B03F-4250-B563-7D2B4841765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32917B-BE1F-41E3-98C6-339AAA288F14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E06996-309E-4D01-A90F-84DDF0108CB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26929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037B75CA-5835-4395-8034-B461BCF650F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ASSESSMENT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7B8AF6-5500-4CBF-9282-8C773BA80C22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Briefing for Assessment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586BFA-D387-4194-B6B5-156BA99B95BA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36C99E-D8E4-44ED-AAD1-4B24F73C04EE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3A2718-067C-43F6-BEFA-F9E56EFBC10E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F0429-CA05-4EBE-A6B5-C11EE0ED75CF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0FF1AB-15EE-4FD2-AF26-3AFB8C11C8C8}"/>
              </a:ext>
            </a:extLst>
          </p:cNvPr>
          <p:cNvSpPr>
            <a:spLocks noGrp="1"/>
          </p:cNvSpPr>
          <p:nvPr/>
        </p:nvSpPr>
        <p:spPr>
          <a:xfrm>
            <a:off x="142875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Assessment is open book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485347-CDC7-4D8A-9BC9-1D2D6EC76BED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E8009A-7DB2-4EC0-A836-769292659DCA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7DE5C-6385-430A-A4B0-743ABDACDF4A}"/>
              </a:ext>
            </a:extLst>
          </p:cNvPr>
          <p:cNvSpPr>
            <a:spLocks noGrp="1"/>
          </p:cNvSpPr>
          <p:nvPr/>
        </p:nvSpPr>
        <p:spPr>
          <a:xfrm>
            <a:off x="630555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6FBF8A-2B43-40F1-860E-F65C39720A56}"/>
              </a:ext>
            </a:extLst>
          </p:cNvPr>
          <p:cNvSpPr>
            <a:spLocks noGrp="1"/>
          </p:cNvSpPr>
          <p:nvPr/>
        </p:nvSpPr>
        <p:spPr>
          <a:xfrm>
            <a:off x="689610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Complete Written Assessment before Practical Performance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81532C6-DF99-4FAF-B867-B7114210F21F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F69427-08D7-4A73-A571-4320325FD234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76200" cy="1257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DDC756-43A9-4C0B-9A0D-8236EC71B4DA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D716A6-5B9D-480A-913B-A367C494F520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Follow the assessor's timing and evidence rules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C0A6D63-562B-4134-80AF-839B1F59BA11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D86B1B-4A5D-4165-A1C5-191B22B7C8FD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76200" cy="12573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33F3AF-17B9-42D6-A837-030394BC4282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0037AB-489D-4691-B377-2634CD087EC3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Submit answers through the LMS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C32C61D-E396-4A3B-854B-AB9107DDF9B5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D72618-EE3F-4737-B98A-4F40423AB90A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E8023C-AD36-4330-A7D6-0DD43E080A4E}"/>
              </a:ext>
            </a:extLst>
          </p:cNvPr>
          <p:cNvSpPr>
            <a:spLocks noGrp="1"/>
          </p:cNvSpPr>
          <p:nvPr/>
        </p:nvSpPr>
        <p:spPr>
          <a:xfrm>
            <a:off x="838200" y="46863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105B327-1056-41EB-B464-D27FB898B6E0}"/>
              </a:ext>
            </a:extLst>
          </p:cNvPr>
          <p:cNvSpPr>
            <a:spLocks noGrp="1"/>
          </p:cNvSpPr>
          <p:nvPr/>
        </p:nvSpPr>
        <p:spPr>
          <a:xfrm>
            <a:off x="1428750" y="46482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Ask process questions before assessment starts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81C4677-C8D0-413B-A69F-FCDC3D7D5465}"/>
              </a:ext>
            </a:extLst>
          </p:cNvPr>
          <p:cNvSpPr>
            <a:spLocks noGrp="1"/>
          </p:cNvSpPr>
          <p:nvPr/>
        </p:nvSpPr>
        <p:spPr>
          <a:xfrm>
            <a:off x="6076950" y="44767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C412CB-773A-4802-A289-1F721CF30356}"/>
              </a:ext>
            </a:extLst>
          </p:cNvPr>
          <p:cNvSpPr>
            <a:spLocks noGrp="1"/>
          </p:cNvSpPr>
          <p:nvPr/>
        </p:nvSpPr>
        <p:spPr>
          <a:xfrm>
            <a:off x="6076950" y="44767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799B2D-6238-480A-BF9A-C1C77B93CBF5}"/>
              </a:ext>
            </a:extLst>
          </p:cNvPr>
          <p:cNvSpPr>
            <a:spLocks noGrp="1"/>
          </p:cNvSpPr>
          <p:nvPr/>
        </p:nvSpPr>
        <p:spPr>
          <a:xfrm>
            <a:off x="6305550" y="46863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0420FB-F70F-410B-8E5F-ED0FBBBE2277}"/>
              </a:ext>
            </a:extLst>
          </p:cNvPr>
          <p:cNvSpPr>
            <a:spLocks noGrp="1"/>
          </p:cNvSpPr>
          <p:nvPr/>
        </p:nvSpPr>
        <p:spPr>
          <a:xfrm>
            <a:off x="6896100" y="46482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Sign the Assessment Summary Record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97EBFC-EBA9-41CF-964E-5AD10C6DA21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0A1381A-63A0-4FFC-B407-82919E5CFA0E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2273A29-6CB2-44E2-A4F5-B9B397DAF14E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9292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B0E9A00-F27B-4B99-A1A2-1F222845304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ASSESSMENT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BA1650-86B2-4F6B-A606-29FA1299E7C3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Assessment and Funding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DBAC10-CE85-41AC-AB2F-1C7D3621122D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7DB855-AEB7-4918-B578-C305A6FE1FF0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3333750" cy="36195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A78C74-F655-41DD-86C7-CA946DEDC5E7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3333750" cy="114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F6A4BF-9AE6-4589-98A2-A175CF0A2644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F6FEB"/>
                </a:solidFill>
              </a:defRPr>
            </a:pPr>
            <a:r>
              <a:rPr sz="2400" b="1">
                <a:solidFill>
                  <a:srgbClr val="1F6FEB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851039-E844-4334-835B-841B8746171F}"/>
              </a:ext>
            </a:extLst>
          </p:cNvPr>
          <p:cNvSpPr>
            <a:spLocks noGrp="1"/>
          </p:cNvSpPr>
          <p:nvPr/>
        </p:nvSpPr>
        <p:spPr>
          <a:xfrm>
            <a:off x="857250" y="2714625"/>
            <a:ext cx="2838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Written Assessment: 1 hour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7B3C794-57D1-45D3-8F76-47AE35A2DCB3}"/>
              </a:ext>
            </a:extLst>
          </p:cNvPr>
          <p:cNvSpPr>
            <a:spLocks noGrp="1"/>
          </p:cNvSpPr>
          <p:nvPr/>
        </p:nvSpPr>
        <p:spPr>
          <a:xfrm>
            <a:off x="4248150" y="1714500"/>
            <a:ext cx="3333750" cy="36195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57C791-50E3-4F60-AC08-A28035EB59B7}"/>
              </a:ext>
            </a:extLst>
          </p:cNvPr>
          <p:cNvSpPr>
            <a:spLocks noGrp="1"/>
          </p:cNvSpPr>
          <p:nvPr/>
        </p:nvSpPr>
        <p:spPr>
          <a:xfrm>
            <a:off x="4248150" y="1714500"/>
            <a:ext cx="3333750" cy="114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A9C7DC-284E-4C85-B874-B50D9038EFE9}"/>
              </a:ext>
            </a:extLst>
          </p:cNvPr>
          <p:cNvSpPr>
            <a:spLocks noGrp="1"/>
          </p:cNvSpPr>
          <p:nvPr/>
        </p:nvSpPr>
        <p:spPr>
          <a:xfrm>
            <a:off x="4495800" y="20478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0B981"/>
                </a:solidFill>
              </a:defRPr>
            </a:pPr>
            <a:r>
              <a:rPr sz="2400" b="1">
                <a:solidFill>
                  <a:srgbClr val="10B981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132633-AFB4-407F-AE46-564F2FFAF006}"/>
              </a:ext>
            </a:extLst>
          </p:cNvPr>
          <p:cNvSpPr>
            <a:spLocks noGrp="1"/>
          </p:cNvSpPr>
          <p:nvPr/>
        </p:nvSpPr>
        <p:spPr>
          <a:xfrm>
            <a:off x="4495800" y="2714625"/>
            <a:ext cx="2838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Practical Performance: 1 hour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C9CDF10-843B-445E-9F9C-22EED1AE3565}"/>
              </a:ext>
            </a:extLst>
          </p:cNvPr>
          <p:cNvSpPr>
            <a:spLocks noGrp="1"/>
          </p:cNvSpPr>
          <p:nvPr/>
        </p:nvSpPr>
        <p:spPr>
          <a:xfrm>
            <a:off x="7886700" y="1714500"/>
            <a:ext cx="3333750" cy="36195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FEF79F-7A91-4C53-9EAB-188977EEF3AA}"/>
              </a:ext>
            </a:extLst>
          </p:cNvPr>
          <p:cNvSpPr>
            <a:spLocks noGrp="1"/>
          </p:cNvSpPr>
          <p:nvPr/>
        </p:nvSpPr>
        <p:spPr>
          <a:xfrm>
            <a:off x="7886700" y="1714500"/>
            <a:ext cx="3333750" cy="114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0EBF8C-6841-4080-9DAD-5971687E1E79}"/>
              </a:ext>
            </a:extLst>
          </p:cNvPr>
          <p:cNvSpPr>
            <a:spLocks noGrp="1"/>
          </p:cNvSpPr>
          <p:nvPr/>
        </p:nvSpPr>
        <p:spPr>
          <a:xfrm>
            <a:off x="8134350" y="20478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7C3AED"/>
                </a:solidFill>
              </a:defRPr>
            </a:pPr>
            <a:r>
              <a:rPr sz="2400" b="1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63590D-5353-489A-A302-986CCA1FDA2D}"/>
              </a:ext>
            </a:extLst>
          </p:cNvPr>
          <p:cNvSpPr>
            <a:spLocks noGrp="1"/>
          </p:cNvSpPr>
          <p:nvPr/>
        </p:nvSpPr>
        <p:spPr>
          <a:xfrm>
            <a:off x="8134350" y="2714625"/>
            <a:ext cx="2838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Competency requires attendance and successful assessment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2AF7D1-C228-4199-BF80-B074B888156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FCE9FE-AE58-4439-B5A3-BAA84F52AECE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4D793B-7627-43AB-9A6C-221F66290190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00769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E878BCB-E01E-4164-AD92-A5935112E5A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ASSESSMENT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64B3B4-C8DA-4EA4-87C1-8B1F19C97B52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Assessment Flow Reminder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7115B5-3537-4FBE-A489-7A2CF62C20ED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04EDA9C-5747-4BDC-AFE0-14452AEE874D}"/>
              </a:ext>
            </a:extLst>
          </p:cNvPr>
          <p:cNvSpPr>
            <a:spLocks noGrp="1"/>
          </p:cNvSpPr>
          <p:nvPr/>
        </p:nvSpPr>
        <p:spPr>
          <a:xfrm>
            <a:off x="647700" y="2143125"/>
            <a:ext cx="20002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DE80C0-CF2B-4A24-B261-1220CB1933C2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495300" cy="495300"/>
          </a:xfrm>
          <a:prstGeom prst="ellipse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AD4F34-1BE7-4C2D-8C87-6511EFD2FD77}"/>
              </a:ext>
            </a:extLst>
          </p:cNvPr>
          <p:cNvSpPr>
            <a:spLocks noGrp="1"/>
          </p:cNvSpPr>
          <p:nvPr/>
        </p:nvSpPr>
        <p:spPr>
          <a:xfrm>
            <a:off x="942975" y="2447925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45A9E3-A6F9-454B-9DDC-B856C9D899CF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1543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TRAQOM digital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attendance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BC97AB-8792-48CC-BBBF-D875FB78AD32}"/>
              </a:ext>
            </a:extLst>
          </p:cNvPr>
          <p:cNvSpPr>
            <a:spLocks noGrp="1"/>
          </p:cNvSpPr>
          <p:nvPr/>
        </p:nvSpPr>
        <p:spPr>
          <a:xfrm>
            <a:off x="2619375" y="2857500"/>
            <a:ext cx="28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75" b="1">
                <a:solidFill>
                  <a:srgbClr val="4B5563"/>
                </a:solidFill>
              </a:defRPr>
            </a:pPr>
            <a:r>
              <a:rPr sz="2475" b="1">
                <a:solidFill>
                  <a:srgbClr val="4B5563"/>
                </a:solidFill>
              </a:rPr>
              <a:t>›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913F9F4-8696-4FD2-A383-8EA6B00FDC43}"/>
              </a:ext>
            </a:extLst>
          </p:cNvPr>
          <p:cNvSpPr>
            <a:spLocks noGrp="1"/>
          </p:cNvSpPr>
          <p:nvPr/>
        </p:nvSpPr>
        <p:spPr>
          <a:xfrm>
            <a:off x="2886075" y="2143125"/>
            <a:ext cx="20002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8D72437-B6B4-4A63-822E-66F20F2987BD}"/>
              </a:ext>
            </a:extLst>
          </p:cNvPr>
          <p:cNvSpPr>
            <a:spLocks noGrp="1"/>
          </p:cNvSpPr>
          <p:nvPr/>
        </p:nvSpPr>
        <p:spPr>
          <a:xfrm>
            <a:off x="3057525" y="2333625"/>
            <a:ext cx="495300" cy="495300"/>
          </a:xfrm>
          <a:prstGeom prst="ellipse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04FF2E-F893-44B4-9F63-BF8E510647D2}"/>
              </a:ext>
            </a:extLst>
          </p:cNvPr>
          <p:cNvSpPr>
            <a:spLocks noGrp="1"/>
          </p:cNvSpPr>
          <p:nvPr/>
        </p:nvSpPr>
        <p:spPr>
          <a:xfrm>
            <a:off x="3181350" y="2447925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62ED8C-22CD-4C8E-ACA7-1ABF2FDD0058}"/>
              </a:ext>
            </a:extLst>
          </p:cNvPr>
          <p:cNvSpPr>
            <a:spLocks noGrp="1"/>
          </p:cNvSpPr>
          <p:nvPr/>
        </p:nvSpPr>
        <p:spPr>
          <a:xfrm>
            <a:off x="3114675" y="3048000"/>
            <a:ext cx="1543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Assessment digital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attendance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AAEEB8-9026-425D-A0B8-233CEBFFF467}"/>
              </a:ext>
            </a:extLst>
          </p:cNvPr>
          <p:cNvSpPr>
            <a:spLocks noGrp="1"/>
          </p:cNvSpPr>
          <p:nvPr/>
        </p:nvSpPr>
        <p:spPr>
          <a:xfrm>
            <a:off x="4857750" y="2857500"/>
            <a:ext cx="28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75" b="1">
                <a:solidFill>
                  <a:srgbClr val="4B5563"/>
                </a:solidFill>
              </a:defRPr>
            </a:pPr>
            <a:r>
              <a:rPr sz="2475" b="1">
                <a:solidFill>
                  <a:srgbClr val="4B5563"/>
                </a:solidFill>
              </a:rPr>
              <a:t>›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B0A5296-CFB1-49A4-8B55-E8048D64BA3D}"/>
              </a:ext>
            </a:extLst>
          </p:cNvPr>
          <p:cNvSpPr>
            <a:spLocks noGrp="1"/>
          </p:cNvSpPr>
          <p:nvPr/>
        </p:nvSpPr>
        <p:spPr>
          <a:xfrm>
            <a:off x="5124450" y="2143125"/>
            <a:ext cx="20002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CD626CD-DA75-4A16-B090-CBC7EEE917D4}"/>
              </a:ext>
            </a:extLst>
          </p:cNvPr>
          <p:cNvSpPr>
            <a:spLocks noGrp="1"/>
          </p:cNvSpPr>
          <p:nvPr/>
        </p:nvSpPr>
        <p:spPr>
          <a:xfrm>
            <a:off x="5295900" y="2333625"/>
            <a:ext cx="495300" cy="495300"/>
          </a:xfrm>
          <a:prstGeom prst="ellipse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5AC62B-DBB1-402D-A648-AF4E88F5D3AD}"/>
              </a:ext>
            </a:extLst>
          </p:cNvPr>
          <p:cNvSpPr>
            <a:spLocks noGrp="1"/>
          </p:cNvSpPr>
          <p:nvPr/>
        </p:nvSpPr>
        <p:spPr>
          <a:xfrm>
            <a:off x="5419725" y="2447925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C03F03-458A-4A1F-86FE-D6013612DBBA}"/>
              </a:ext>
            </a:extLst>
          </p:cNvPr>
          <p:cNvSpPr>
            <a:spLocks noGrp="1"/>
          </p:cNvSpPr>
          <p:nvPr/>
        </p:nvSpPr>
        <p:spPr>
          <a:xfrm>
            <a:off x="5353050" y="3048000"/>
            <a:ext cx="1543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Sit WA then PP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D2F041-FBA8-4CC2-BE7F-444205F109A3}"/>
              </a:ext>
            </a:extLst>
          </p:cNvPr>
          <p:cNvSpPr>
            <a:spLocks noGrp="1"/>
          </p:cNvSpPr>
          <p:nvPr/>
        </p:nvSpPr>
        <p:spPr>
          <a:xfrm>
            <a:off x="7096125" y="2857500"/>
            <a:ext cx="28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75" b="1">
                <a:solidFill>
                  <a:srgbClr val="4B5563"/>
                </a:solidFill>
              </a:defRPr>
            </a:pPr>
            <a:r>
              <a:rPr sz="2475" b="1">
                <a:solidFill>
                  <a:srgbClr val="4B5563"/>
                </a:solidFill>
              </a:rPr>
              <a:t>›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555BE7B-BAEF-4F91-9692-EE50072D5457}"/>
              </a:ext>
            </a:extLst>
          </p:cNvPr>
          <p:cNvSpPr>
            <a:spLocks noGrp="1"/>
          </p:cNvSpPr>
          <p:nvPr/>
        </p:nvSpPr>
        <p:spPr>
          <a:xfrm>
            <a:off x="7362825" y="2143125"/>
            <a:ext cx="20002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7817328-7C78-40D8-BC19-911AB2DD894A}"/>
              </a:ext>
            </a:extLst>
          </p:cNvPr>
          <p:cNvSpPr>
            <a:spLocks noGrp="1"/>
          </p:cNvSpPr>
          <p:nvPr/>
        </p:nvSpPr>
        <p:spPr>
          <a:xfrm>
            <a:off x="7534275" y="2333625"/>
            <a:ext cx="495300" cy="49530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EA1806-87E8-406A-8176-481B47C662FF}"/>
              </a:ext>
            </a:extLst>
          </p:cNvPr>
          <p:cNvSpPr>
            <a:spLocks noGrp="1"/>
          </p:cNvSpPr>
          <p:nvPr/>
        </p:nvSpPr>
        <p:spPr>
          <a:xfrm>
            <a:off x="7658100" y="2447925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A532FA-7B6E-4583-9865-E510B3595CE3}"/>
              </a:ext>
            </a:extLst>
          </p:cNvPr>
          <p:cNvSpPr>
            <a:spLocks noGrp="1"/>
          </p:cNvSpPr>
          <p:nvPr/>
        </p:nvSpPr>
        <p:spPr>
          <a:xfrm>
            <a:off x="7591425" y="3048000"/>
            <a:ext cx="1543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Submit answers on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the LMS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FC7CFC-0962-4D2D-A2DF-A20DDF8084EA}"/>
              </a:ext>
            </a:extLst>
          </p:cNvPr>
          <p:cNvSpPr>
            <a:spLocks noGrp="1"/>
          </p:cNvSpPr>
          <p:nvPr/>
        </p:nvSpPr>
        <p:spPr>
          <a:xfrm>
            <a:off x="9334500" y="2857500"/>
            <a:ext cx="28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75" b="1">
                <a:solidFill>
                  <a:srgbClr val="4B5563"/>
                </a:solidFill>
              </a:defRPr>
            </a:pPr>
            <a:r>
              <a:rPr sz="2475" b="1">
                <a:solidFill>
                  <a:srgbClr val="4B5563"/>
                </a:solidFill>
              </a:rPr>
              <a:t>›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030774E-2402-4E88-B480-8AA99F05C9CB}"/>
              </a:ext>
            </a:extLst>
          </p:cNvPr>
          <p:cNvSpPr>
            <a:spLocks noGrp="1"/>
          </p:cNvSpPr>
          <p:nvPr/>
        </p:nvSpPr>
        <p:spPr>
          <a:xfrm>
            <a:off x="9601200" y="2143125"/>
            <a:ext cx="20002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00F591F-9CC3-4EDB-A2CE-A93B6F5E96D3}"/>
              </a:ext>
            </a:extLst>
          </p:cNvPr>
          <p:cNvSpPr>
            <a:spLocks noGrp="1"/>
          </p:cNvSpPr>
          <p:nvPr/>
        </p:nvSpPr>
        <p:spPr>
          <a:xfrm>
            <a:off x="9772650" y="2333625"/>
            <a:ext cx="495300" cy="495300"/>
          </a:xfrm>
          <a:prstGeom prst="ellipse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2513E0-4981-4C22-90FE-5EB10F03639A}"/>
              </a:ext>
            </a:extLst>
          </p:cNvPr>
          <p:cNvSpPr>
            <a:spLocks noGrp="1"/>
          </p:cNvSpPr>
          <p:nvPr/>
        </p:nvSpPr>
        <p:spPr>
          <a:xfrm>
            <a:off x="9896475" y="2447925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57F7E2-4339-407B-95AF-06FBBEB29C99}"/>
              </a:ext>
            </a:extLst>
          </p:cNvPr>
          <p:cNvSpPr>
            <a:spLocks noGrp="1"/>
          </p:cNvSpPr>
          <p:nvPr/>
        </p:nvSpPr>
        <p:spPr>
          <a:xfrm>
            <a:off x="9829800" y="3048000"/>
            <a:ext cx="1543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Sign Assessment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Summary Record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0E689F-0F49-46AB-B086-73478BBF2693}"/>
              </a:ext>
            </a:extLst>
          </p:cNvPr>
          <p:cNvSpPr>
            <a:spLocks noGrp="1"/>
          </p:cNvSpPr>
          <p:nvPr/>
        </p:nvSpPr>
        <p:spPr>
          <a:xfrm>
            <a:off x="1714500" y="4762500"/>
            <a:ext cx="876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The TRAQOM QR code and assessment submission are both handled through the LMS/TMS portal.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5E884D-1AA6-4F17-9D84-45FBEA064E4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D4F850-FB9C-45CF-B229-EC21985D6A9E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1542E0-C17D-4308-921D-3DB3BD44B4F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16231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DC3D4AC-7032-4940-A2F2-917C0962B15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HANDS-ON SETUP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463B53-E893-48B4-AB0E-CA6047A1BD6F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Access the Hands-On Labs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7163B6-6C8F-426F-9E1F-9BCB8C3706C5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1356A7-1A65-4B45-A5A7-87A44D7566B7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3333750" cy="36195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ACF768-34E0-4F12-8AC7-3B77812A4012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3333750" cy="114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F18DF1-2771-4243-ADBF-E1153D01DE7E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F6FEB"/>
                </a:solidFill>
              </a:defRPr>
            </a:pPr>
            <a:r>
              <a:rPr sz="2400" b="1">
                <a:solidFill>
                  <a:srgbClr val="1F6FEB"/>
                </a:solidFill>
              </a:rPr>
              <a:t>1</a:t>
            </a:r>
          </a:p>
        </p:txBody>
      </p:sp>
      <p:sp>
        <p:nvSpPr>
          <p:cNvPr id="7" name="Rectangle 6">
            <a:hlinkClick r:id="rId3"/>
            <a:extLst>
              <a:ext uri="{FF2B5EF4-FFF2-40B4-BE49-F238E27FC236}">
                <a16:creationId xmlns:a16="http://schemas.microsoft.com/office/drawing/2014/main" id="{29020808-5902-4DC3-B145-84675639F138}"/>
              </a:ext>
            </a:extLst>
          </p:cNvPr>
          <p:cNvSpPr>
            <a:spLocks noGrp="1"/>
          </p:cNvSpPr>
          <p:nvPr/>
        </p:nvSpPr>
        <p:spPr>
          <a:xfrm>
            <a:off x="857250" y="2714625"/>
            <a:ext cx="2838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https://github.com/tertiarycourses/TGS-2025054815---AWS-Certified-DevOps-Engineer-Professional-Training/tree/main/labs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A8AF073-6A9D-4501-A5AE-3B0706F7ED48}"/>
              </a:ext>
            </a:extLst>
          </p:cNvPr>
          <p:cNvSpPr>
            <a:spLocks noGrp="1"/>
          </p:cNvSpPr>
          <p:nvPr/>
        </p:nvSpPr>
        <p:spPr>
          <a:xfrm>
            <a:off x="4248150" y="1714500"/>
            <a:ext cx="3333750" cy="36195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D4D969-DB5F-48EF-8D5A-05117E4C45F2}"/>
              </a:ext>
            </a:extLst>
          </p:cNvPr>
          <p:cNvSpPr>
            <a:spLocks noGrp="1"/>
          </p:cNvSpPr>
          <p:nvPr/>
        </p:nvSpPr>
        <p:spPr>
          <a:xfrm>
            <a:off x="4248150" y="1714500"/>
            <a:ext cx="3333750" cy="114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D68E94-7350-4C12-B609-8ED266263125}"/>
              </a:ext>
            </a:extLst>
          </p:cNvPr>
          <p:cNvSpPr>
            <a:spLocks noGrp="1"/>
          </p:cNvSpPr>
          <p:nvPr/>
        </p:nvSpPr>
        <p:spPr>
          <a:xfrm>
            <a:off x="4495800" y="20478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0B981"/>
                </a:solidFill>
              </a:defRPr>
            </a:pPr>
            <a:r>
              <a:rPr sz="2400" b="1">
                <a:solidFill>
                  <a:srgbClr val="10B981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2A0711-6865-49E9-8F99-1A5F2ADF44C8}"/>
              </a:ext>
            </a:extLst>
          </p:cNvPr>
          <p:cNvSpPr>
            <a:spLocks noGrp="1"/>
          </p:cNvSpPr>
          <p:nvPr/>
        </p:nvSpPr>
        <p:spPr>
          <a:xfrm>
            <a:off x="4495800" y="2714625"/>
            <a:ext cx="2838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Option A: git clone the course repository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719B521-E0E4-4FC8-8BFC-7E91BC4CA056}"/>
              </a:ext>
            </a:extLst>
          </p:cNvPr>
          <p:cNvSpPr>
            <a:spLocks noGrp="1"/>
          </p:cNvSpPr>
          <p:nvPr/>
        </p:nvSpPr>
        <p:spPr>
          <a:xfrm>
            <a:off x="7886700" y="1714500"/>
            <a:ext cx="3333750" cy="36195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A4EBB1-CED7-4C1B-AB3B-E66C1F07E7A0}"/>
              </a:ext>
            </a:extLst>
          </p:cNvPr>
          <p:cNvSpPr>
            <a:spLocks noGrp="1"/>
          </p:cNvSpPr>
          <p:nvPr/>
        </p:nvSpPr>
        <p:spPr>
          <a:xfrm>
            <a:off x="7886700" y="1714500"/>
            <a:ext cx="3333750" cy="114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4CFEF4-C1BB-44E8-9F23-27110C3A6D9C}"/>
              </a:ext>
            </a:extLst>
          </p:cNvPr>
          <p:cNvSpPr>
            <a:spLocks noGrp="1"/>
          </p:cNvSpPr>
          <p:nvPr/>
        </p:nvSpPr>
        <p:spPr>
          <a:xfrm>
            <a:off x="8134350" y="20478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7C3AED"/>
                </a:solidFill>
              </a:defRPr>
            </a:pPr>
            <a:r>
              <a:rPr sz="2400" b="1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78BAFD-FB60-4BD5-BD72-BDB381131218}"/>
              </a:ext>
            </a:extLst>
          </p:cNvPr>
          <p:cNvSpPr>
            <a:spLocks noGrp="1"/>
          </p:cNvSpPr>
          <p:nvPr/>
        </p:nvSpPr>
        <p:spPr>
          <a:xfrm>
            <a:off x="8134350" y="2714625"/>
            <a:ext cx="2838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Option B: GitHub Code &gt; Download ZIP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FD3672-CA2C-42F7-8F85-377DC1BC75C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2AB09C-238B-47EA-A97F-D7C4E03E7E86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26CA6A8-A547-478E-849D-97CFD15CEE49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10674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E42D45D-C4E3-40C2-867E-AA152A307C5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DC2626"/>
                </a:solidFill>
              </a:defRPr>
            </a:pPr>
            <a:r>
              <a:rPr sz="1050" b="1">
                <a:solidFill>
                  <a:srgbClr val="DC2626"/>
                </a:solidFill>
              </a:rPr>
              <a:t>HANDS-ON SETUP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819558-A746-43F9-B291-0A3B059E7639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AWS Workbench and Cost Safety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AAB21B-25C8-4A00-AF5A-48CB37A296F5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73A9A8-1E53-4E9C-8C54-8C4413FF03A8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541E78-0761-4DE4-B68C-70CA7D2D25D9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479C17-DAB4-47B2-A42A-313CBAC59C2E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2997E-7378-4475-8836-C81D48E27ABB}"/>
              </a:ext>
            </a:extLst>
          </p:cNvPr>
          <p:cNvSpPr>
            <a:spLocks noGrp="1"/>
          </p:cNvSpPr>
          <p:nvPr/>
        </p:nvSpPr>
        <p:spPr>
          <a:xfrm>
            <a:off x="142875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Use the trainer-provided AWS account where available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6CD6D4-9053-41CA-BCDA-798BADC58133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F1BB15-E2A0-4ADD-854D-8F5D43ED0054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0CD1A8-E840-4EAC-B59F-D353CE1D5732}"/>
              </a:ext>
            </a:extLst>
          </p:cNvPr>
          <p:cNvSpPr>
            <a:spLocks noGrp="1"/>
          </p:cNvSpPr>
          <p:nvPr/>
        </p:nvSpPr>
        <p:spPr>
          <a:xfrm>
            <a:off x="630555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41CABE-9F16-4AC3-8574-285E1E8D8D34}"/>
              </a:ext>
            </a:extLst>
          </p:cNvPr>
          <p:cNvSpPr>
            <a:spLocks noGrp="1"/>
          </p:cNvSpPr>
          <p:nvPr/>
        </p:nvSpPr>
        <p:spPr>
          <a:xfrm>
            <a:off x="689610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Choose the instructed AWS Region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99D5F3B-6524-4E44-A730-C88F2F33DC3C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8C6093-74E4-48C0-82C7-A84BB532F764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76200" cy="1257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E557FE-C9DD-4276-A7AE-AF6826292E3D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784933-0C6E-4573-9D03-0E451A41E51E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Never expose access keys or secrets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B340DF5-B4E2-4E46-BDCA-CD4C864C94F0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68D01E-4DFF-465A-B921-9059710623D7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76200" cy="12573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20BCFD-DF0B-4EBF-BBC2-94F2140F7194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8C8A08-92F6-4D00-93A6-8603433D0CDC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Create budgets and monitor charges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6F816C0-DF80-4D70-A480-FE665CDD85D2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A80D75-F16D-41FA-809D-A261BFA37E7B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0E4894-352B-49DB-A2D9-FD6AEB506169}"/>
              </a:ext>
            </a:extLst>
          </p:cNvPr>
          <p:cNvSpPr>
            <a:spLocks noGrp="1"/>
          </p:cNvSpPr>
          <p:nvPr/>
        </p:nvSpPr>
        <p:spPr>
          <a:xfrm>
            <a:off x="838200" y="46863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05C799C-8ABF-4240-9CC6-3C82582F32FC}"/>
              </a:ext>
            </a:extLst>
          </p:cNvPr>
          <p:cNvSpPr>
            <a:spLocks noGrp="1"/>
          </p:cNvSpPr>
          <p:nvPr/>
        </p:nvSpPr>
        <p:spPr>
          <a:xfrm>
            <a:off x="1428750" y="46482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Prefer free-tier eligible resources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7B678FF-0C85-4FE9-B683-8E3672E1C407}"/>
              </a:ext>
            </a:extLst>
          </p:cNvPr>
          <p:cNvSpPr>
            <a:spLocks noGrp="1"/>
          </p:cNvSpPr>
          <p:nvPr/>
        </p:nvSpPr>
        <p:spPr>
          <a:xfrm>
            <a:off x="6076950" y="44767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97CAF6-1BA6-4ECF-8791-390F321618D8}"/>
              </a:ext>
            </a:extLst>
          </p:cNvPr>
          <p:cNvSpPr>
            <a:spLocks noGrp="1"/>
          </p:cNvSpPr>
          <p:nvPr/>
        </p:nvSpPr>
        <p:spPr>
          <a:xfrm>
            <a:off x="6076950" y="44767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B8141F-3712-4162-8988-1B8DDC5F99DC}"/>
              </a:ext>
            </a:extLst>
          </p:cNvPr>
          <p:cNvSpPr>
            <a:spLocks noGrp="1"/>
          </p:cNvSpPr>
          <p:nvPr/>
        </p:nvSpPr>
        <p:spPr>
          <a:xfrm>
            <a:off x="6305550" y="46863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3F89E8-F1DE-46E5-A688-CC541986E20E}"/>
              </a:ext>
            </a:extLst>
          </p:cNvPr>
          <p:cNvSpPr>
            <a:spLocks noGrp="1"/>
          </p:cNvSpPr>
          <p:nvPr/>
        </p:nvSpPr>
        <p:spPr>
          <a:xfrm>
            <a:off x="6896100" y="46482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Delete paid resources after each lab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994773-5846-4FDB-9933-F22816BFBD2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31B90E-2EFE-4FF1-A7C9-2D2E72DC9468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DC9CEC-1A3F-4ACA-B1F9-3200B31F5006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415405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141AAF-5A06-4F06-A33E-92AEE515C4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804BC9-4F81-4860-BB89-47D68843EDCD}"/>
              </a:ext>
            </a:extLst>
          </p:cNvPr>
          <p:cNvSpPr>
            <a:spLocks noGrp="1"/>
          </p:cNvSpPr>
          <p:nvPr/>
        </p:nvSpPr>
        <p:spPr>
          <a:xfrm>
            <a:off x="723900" y="8572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F6FEB"/>
                </a:solidFill>
              </a:defRPr>
            </a:pPr>
            <a:r>
              <a:rPr sz="1275" b="1">
                <a:solidFill>
                  <a:srgbClr val="1F6FEB"/>
                </a:solidFill>
              </a:rPr>
              <a:t>DOMAIN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149F48-4D7E-42AA-8F10-FAAFBB6A1F78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8096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SDLC Automation and Infrastructure as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3EECFD-E3B2-4406-8F28-DF7ABBB14875}"/>
              </a:ext>
            </a:extLst>
          </p:cNvPr>
          <p:cNvSpPr>
            <a:spLocks noGrp="1"/>
          </p:cNvSpPr>
          <p:nvPr/>
        </p:nvSpPr>
        <p:spPr>
          <a:xfrm>
            <a:off x="762000" y="3286125"/>
            <a:ext cx="7239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Build capability through labs 1, 2, 3.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A95545-3735-4B3E-AC0D-A183A02FD69A}"/>
              </a:ext>
            </a:extLst>
          </p:cNvPr>
          <p:cNvSpPr>
            <a:spLocks noGrp="1"/>
          </p:cNvSpPr>
          <p:nvPr/>
        </p:nvSpPr>
        <p:spPr>
          <a:xfrm>
            <a:off x="8953500" y="1476375"/>
            <a:ext cx="2286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0" b="1">
                <a:solidFill>
                  <a:srgbClr val="E8EDF4"/>
                </a:solidFill>
              </a:defRPr>
            </a:pPr>
            <a:r>
              <a:rPr sz="9000" b="1">
                <a:solidFill>
                  <a:srgbClr val="E8EDF4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A18451-33C4-4C98-AF7C-1D8D29795E8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56C0A-7157-4896-8868-965D2D7612E8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54BDED-00BE-46F4-A7D4-C6B7B7BD8D71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22836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D38FA7E-4E81-48BC-BB46-7502E8C4D39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HANDS-ON LAB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10BB7A-7357-47E8-AF0A-7CD3A3CEEFC9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Account Safety, IAM, DevOps Tooling, and Governance Baseline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F6F243-308E-41A5-8FCA-C91FEE528247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935B035-190B-4177-8870-E9A62D94627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6858000" cy="34290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1DBE85-8D84-4FCD-A16A-E7806BE1F534}"/>
              </a:ext>
            </a:extLst>
          </p:cNvPr>
          <p:cNvSpPr>
            <a:spLocks noGrp="1"/>
          </p:cNvSpPr>
          <p:nvPr/>
        </p:nvSpPr>
        <p:spPr>
          <a:xfrm>
            <a:off x="876300" y="19050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Scenario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839D02-CA45-47C2-A055-962E029E24AA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6191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Professional-level DevOps work starts with account safety, auditability, and controlled access. You will review the foundation used by CI/CD, automation, monitoring, and operations labs.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0ADCAB-92EC-4E0E-B558-8E91BFEAB370}"/>
              </a:ext>
            </a:extLst>
          </p:cNvPr>
          <p:cNvSpPr>
            <a:spLocks noGrp="1"/>
          </p:cNvSpPr>
          <p:nvPr/>
        </p:nvSpPr>
        <p:spPr>
          <a:xfrm>
            <a:off x="7858125" y="1619250"/>
            <a:ext cx="3714750" cy="342900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FDF354-2277-4884-AEED-1AE94FD3DC62}"/>
              </a:ext>
            </a:extLst>
          </p:cNvPr>
          <p:cNvSpPr>
            <a:spLocks noGrp="1"/>
          </p:cNvSpPr>
          <p:nvPr/>
        </p:nvSpPr>
        <p:spPr>
          <a:xfrm>
            <a:off x="8143875" y="195262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Evidence to retain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4BA5A-2E57-4609-A52C-1E7D282C40E4}"/>
              </a:ext>
            </a:extLst>
          </p:cNvPr>
          <p:cNvSpPr>
            <a:spLocks noGrp="1"/>
          </p:cNvSpPr>
          <p:nvPr/>
        </p:nvSpPr>
        <p:spPr>
          <a:xfrm>
            <a:off x="8143875" y="247650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IAM and least-privilege notes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Governance and audit notes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DevOps service mapping table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Budget or cost-safety notes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541E44-03BF-4468-A37F-38A5988812E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CFAA86-C981-431B-B670-CA24E6A6ECA9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78B8C2-AB62-4688-B4A6-BC86C7768E67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30507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F11E214-4872-450F-9F85-1794725D4F8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LAB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986D0F-6243-49AA-93A6-007F2140A64B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Objectives and decision points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590168-AAE7-40DB-80D1-6817C67A9DE2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B8636CA-6C95-4F2E-BFA7-22D01E96094C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3FF678-1934-4493-BFA2-1F7AB078DDE0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FFB1D2-997B-41EF-8277-4C2FF6A2B60B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973FEB-C8F0-41FF-A2FF-50DFD78D5DFD}"/>
              </a:ext>
            </a:extLst>
          </p:cNvPr>
          <p:cNvSpPr>
            <a:spLocks noGrp="1"/>
          </p:cNvSpPr>
          <p:nvPr/>
        </p:nvSpPr>
        <p:spPr>
          <a:xfrm>
            <a:off x="142875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Establish a safe AWS DevOps learning baseline.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259133-FF4F-4A56-88F4-8CFC5961C454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5FC3D1-93BE-49DA-B43E-76DE743C99DA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3274E7-FF99-41EC-A7A2-B67D63C3F67B}"/>
              </a:ext>
            </a:extLst>
          </p:cNvPr>
          <p:cNvSpPr>
            <a:spLocks noGrp="1"/>
          </p:cNvSpPr>
          <p:nvPr/>
        </p:nvSpPr>
        <p:spPr>
          <a:xfrm>
            <a:off x="630555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661B8F-3CC2-48EE-AC6D-DB8471A51678}"/>
              </a:ext>
            </a:extLst>
          </p:cNvPr>
          <p:cNvSpPr>
            <a:spLocks noGrp="1"/>
          </p:cNvSpPr>
          <p:nvPr/>
        </p:nvSpPr>
        <p:spPr>
          <a:xfrm>
            <a:off x="689610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IAM, roles, permission boundaries, and least privilege.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2F0B64D-012D-444E-88DC-A121106F1672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B4307D-A070-40ED-9179-425F0A6B20CA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76200" cy="1257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7E514F-3611-4A60-9F15-F7708B79316A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A1B099-6227-4E75-A024-1C1AE73A77BD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governance, audit, and cost-safety services.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BC26325-2AC7-495C-90D6-4A2178CD55A4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E7ECEE-F871-4AF7-B1AE-61400EAD8C1D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76200" cy="12573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7D725F-3C6F-4FCF-9030-84104D5B2B28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E15C75-08C3-4449-889C-72F9F3466A16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Map core DevOps services to SDLC activities.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9D1F3A-FF4B-4B28-ADD8-9407D4BD3B2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59C4CF-289B-4BDF-B794-B300DA014DFE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0645A1-DA00-4326-805C-4A517722930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53526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5D419F-AF8E-43C7-B781-295CF041555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LAB 1 PROCEDURE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CBBD5F-072E-4255-BFE6-32F4F812B3F1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Follow the lab sequence and capture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9EDC64-1788-4A36-9A9C-C3ED71BEBDE2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FAF2F4-ADB9-4F63-8D9A-80135C2DD82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57200" cy="457200"/>
          </a:xfrm>
          <a:prstGeom prst="rect">
            <a:avLst/>
          </a:prstGeom>
          <a:solidFill>
            <a:srgbClr val="1F6FE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388B1D-FA56-4648-B5A0-B4B5DA558AF8}"/>
              </a:ext>
            </a:extLst>
          </p:cNvPr>
          <p:cNvSpPr>
            <a:spLocks noGrp="1"/>
          </p:cNvSpPr>
          <p:nvPr/>
        </p:nvSpPr>
        <p:spPr>
          <a:xfrm>
            <a:off x="1352550" y="15430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Sign in to the AWS account assigned by your trainer.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971DED-FCE7-4B56-86B3-9449FA4790CA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457200" cy="4572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5DDCD7-8AD7-4940-BC2F-ADD800593404}"/>
              </a:ext>
            </a:extLst>
          </p:cNvPr>
          <p:cNvSpPr>
            <a:spLocks noGrp="1"/>
          </p:cNvSpPr>
          <p:nvPr/>
        </p:nvSpPr>
        <p:spPr>
          <a:xfrm>
            <a:off x="1352550" y="22860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Confirm the account and region.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56D7CB-5CCA-4241-B3AF-4B0F13B37A7F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57200" cy="45720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807EB6-492E-4841-B900-19F92DE26698}"/>
              </a:ext>
            </a:extLst>
          </p:cNvPr>
          <p:cNvSpPr>
            <a:spLocks noGrp="1"/>
          </p:cNvSpPr>
          <p:nvPr/>
        </p:nvSpPr>
        <p:spPr>
          <a:xfrm>
            <a:off x="1352550" y="30289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Open IAM.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385A03-78E3-47C1-944D-7669CE32ACA8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457200" cy="4572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976902-DC29-420C-A6EE-66793B125B82}"/>
              </a:ext>
            </a:extLst>
          </p:cNvPr>
          <p:cNvSpPr>
            <a:spLocks noGrp="1"/>
          </p:cNvSpPr>
          <p:nvPr/>
        </p:nvSpPr>
        <p:spPr>
          <a:xfrm>
            <a:off x="1352550" y="37719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Verify MFA where permitted.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C76A28-53FC-4D5F-AABD-6AEA0EE6847E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457200" cy="457200"/>
          </a:xfrm>
          <a:prstGeom prst="rect">
            <a:avLst/>
          </a:prstGeom>
          <a:solidFill>
            <a:srgbClr val="1F6FE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839621-1201-4CC9-BFBB-0523036079F0}"/>
              </a:ext>
            </a:extLst>
          </p:cNvPr>
          <p:cNvSpPr>
            <a:spLocks noGrp="1"/>
          </p:cNvSpPr>
          <p:nvPr/>
        </p:nvSpPr>
        <p:spPr>
          <a:xfrm>
            <a:off x="1352550" y="45148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users, groups, roles, policies, and permission boundaries.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2615F0-78A7-49E8-A318-C1FA14C93410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457200" cy="4572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4AD9E5E-597E-4DDF-9494-8674B8E2917C}"/>
              </a:ext>
            </a:extLst>
          </p:cNvPr>
          <p:cNvSpPr>
            <a:spLocks noGrp="1"/>
          </p:cNvSpPr>
          <p:nvPr/>
        </p:nvSpPr>
        <p:spPr>
          <a:xfrm>
            <a:off x="1352550" y="52578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how service roles are used by CodeBuild, CodePipeline, CloudFormation, and Systems Manager.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8B2D35-5B1C-4B0D-9AFA-A833F31778F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77081B-ACB3-4D86-BB0F-6044BD611245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98801B-8387-4BD4-A3B8-8C077265798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40066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E220E8A-E6AA-49AD-8BF6-9D5AF1D0443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1 CHECKPOINT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2161B1-C211-4C05-9175-1FCC6D31DA02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Verify the outcome before moving 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13D5F7-B9C9-46A0-93C2-3156C8564692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B40F2E-6191-4852-9990-D488307A5E21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10972800" cy="3143250"/>
          </a:xfrm>
          <a:prstGeom prst="roundRect">
            <a:avLst>
              <a:gd name="adj" fmla="val 3636"/>
            </a:avLst>
          </a:prstGeom>
          <a:solidFill>
            <a:srgbClr val="EAF8F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163006-138F-4325-A4EA-550BC4C44DE9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650" b="1">
                <a:solidFill>
                  <a:srgbClr val="10B981"/>
                </a:solidFill>
              </a:defRPr>
            </a:pPr>
            <a:r>
              <a:rPr sz="465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01E46F-DF88-4037-AF0A-D6C283BE04CE}"/>
              </a:ext>
            </a:extLst>
          </p:cNvPr>
          <p:cNvSpPr>
            <a:spLocks noGrp="1"/>
          </p:cNvSpPr>
          <p:nvPr/>
        </p:nvSpPr>
        <p:spPr>
          <a:xfrm>
            <a:off x="2095500" y="2095500"/>
            <a:ext cx="8763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• You should be able to explain the governance baseline needed before automating AWS delivery and operations.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330B1E-1B83-44B8-BB94-0E2D6D3DE96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8739EA-83F3-42D6-8F8E-377F059257C2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6ADC47-518B-462F-AD15-7C60139391EA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245067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0380AB4-3B14-47AC-9605-DD1F67AAB51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HANDS-ON LAB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AEC4E7-7355-4DC8-AE5A-35B35E4A1931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Infrastructure as Code with CloudFormation, CDK, Config, and Drift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0B69E1-D74B-4DE8-A727-5FE1D42D4272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D61D70-3A14-4C01-A96D-D4F3DDC55EFC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6858000" cy="34290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F8713E-1BBB-4F5A-B20C-8E678F65B536}"/>
              </a:ext>
            </a:extLst>
          </p:cNvPr>
          <p:cNvSpPr>
            <a:spLocks noGrp="1"/>
          </p:cNvSpPr>
          <p:nvPr/>
        </p:nvSpPr>
        <p:spPr>
          <a:xfrm>
            <a:off x="876300" y="19050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Scenario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3C681C-9D1E-4761-AC4A-0F89D5AB529A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6191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Infrastructure as code supports repeatable environments and controlled change. You will review how AWS tracks desired state, detects drift, and evaluates configuration compliance.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F2E01F-D326-46D6-BC7A-6B9CC7F8DBB3}"/>
              </a:ext>
            </a:extLst>
          </p:cNvPr>
          <p:cNvSpPr>
            <a:spLocks noGrp="1"/>
          </p:cNvSpPr>
          <p:nvPr/>
        </p:nvSpPr>
        <p:spPr>
          <a:xfrm>
            <a:off x="7858125" y="1619250"/>
            <a:ext cx="3714750" cy="342900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485953-2F2A-48B2-A522-98E399B66ED2}"/>
              </a:ext>
            </a:extLst>
          </p:cNvPr>
          <p:cNvSpPr>
            <a:spLocks noGrp="1"/>
          </p:cNvSpPr>
          <p:nvPr/>
        </p:nvSpPr>
        <p:spPr>
          <a:xfrm>
            <a:off x="8143875" y="195262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Evidence to retain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030912-9C9D-4BAE-B134-412F05AE2A79}"/>
              </a:ext>
            </a:extLst>
          </p:cNvPr>
          <p:cNvSpPr>
            <a:spLocks noGrp="1"/>
          </p:cNvSpPr>
          <p:nvPr/>
        </p:nvSpPr>
        <p:spPr>
          <a:xfrm>
            <a:off x="8143875" y="247650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CloudFormation feature notes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CDK and StackSets notes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AWS Config compliance notes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IaC governance workflow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3F7C45-D5D9-41C2-BD20-BF3F888F88B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4BF78E-6B4A-48F2-8A76-B80F7028CBF4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E42C42-FEE9-462C-81D9-EF1E289A4A56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820696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9689144-7FBC-4B50-BD44-2B11A34ABC0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9A21B0-52F5-48A6-A729-7CD4497B5ECC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Objectives and decision points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1DE0C8-F05F-40DD-A4C3-28CB43207D44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AC6FD0-C93C-43D1-9939-203E95D22721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1A7EFF-4748-413A-96EC-AF93AC93F576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D1FDD-3694-4719-9E59-2DC8A3277BEF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4FFEC2-B307-4B3D-8524-15899607FD79}"/>
              </a:ext>
            </a:extLst>
          </p:cNvPr>
          <p:cNvSpPr>
            <a:spLocks noGrp="1"/>
          </p:cNvSpPr>
          <p:nvPr/>
        </p:nvSpPr>
        <p:spPr>
          <a:xfrm>
            <a:off x="142875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CloudFormation stacks, templates, change sets, and drift detection.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6E2BD16-6CC5-41C4-95F6-92D4D73E05A1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4A2D4B-25E8-4738-8333-61F77560690B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C880F4-BFF5-4C03-B9BD-481238A854BB}"/>
              </a:ext>
            </a:extLst>
          </p:cNvPr>
          <p:cNvSpPr>
            <a:spLocks noGrp="1"/>
          </p:cNvSpPr>
          <p:nvPr/>
        </p:nvSpPr>
        <p:spPr>
          <a:xfrm>
            <a:off x="630555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D62443-ACD6-4D5A-A6DB-E3F0ECCDADD2}"/>
              </a:ext>
            </a:extLst>
          </p:cNvPr>
          <p:cNvSpPr>
            <a:spLocks noGrp="1"/>
          </p:cNvSpPr>
          <p:nvPr/>
        </p:nvSpPr>
        <p:spPr>
          <a:xfrm>
            <a:off x="689610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Understand CDK and StackSets at a high level.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F48DED8-365E-418F-AD22-BA7441401887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9C331B-2491-4B8C-ADFB-4B306CD9415F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76200" cy="1257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30CC08-5DC4-45FA-B27C-71ECB2AA3866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F69EB4-EED8-43E8-A84C-19D883F303F7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AWS Config rules and compliance snapshots.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A46A3AD-DD0C-497D-860B-4B63E7FF615D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F28523-B859-427C-9DA8-1F96EB6F3626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76200" cy="12573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365F3D-A3BB-4020-BECC-9D912BA09A24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222403-6E61-41C9-AD61-01DCCC6A8557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Design an IaC governance workflow.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E796D6-F6EB-42F1-AB52-9383BDAE859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E85FBD-77CE-4F69-A33F-F28EFCFF75D6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6A0C3B-E67C-49A8-AA61-62E7357BBBC0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528041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8E0CBC2-84E9-4DD7-92BA-793B318F56B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2 PROCEDURE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758983-AC1C-4D16-98C0-7902239B8948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Follow the lab sequence and capture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F5CA69-1BBC-4FB4-814F-D16CB1A17EC9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E06A21-EF8D-4D9D-8BB8-DF215EBF8EFC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57200" cy="457200"/>
          </a:xfrm>
          <a:prstGeom prst="rect">
            <a:avLst/>
          </a:prstGeom>
          <a:solidFill>
            <a:srgbClr val="1F6FE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5EE653-A634-4646-B0CB-5AC899E47A1F}"/>
              </a:ext>
            </a:extLst>
          </p:cNvPr>
          <p:cNvSpPr>
            <a:spLocks noGrp="1"/>
          </p:cNvSpPr>
          <p:nvPr/>
        </p:nvSpPr>
        <p:spPr>
          <a:xfrm>
            <a:off x="1352550" y="15430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Open CloudFormation.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069C26-393B-491B-9554-5B2B0965D51E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457200" cy="4572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807E3D-01FD-421B-BED9-86013B8D6E29}"/>
              </a:ext>
            </a:extLst>
          </p:cNvPr>
          <p:cNvSpPr>
            <a:spLocks noGrp="1"/>
          </p:cNvSpPr>
          <p:nvPr/>
        </p:nvSpPr>
        <p:spPr>
          <a:xfrm>
            <a:off x="1352550" y="22860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stacks, templates, parameters, outputs, mappings, conditions, and resources.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5803A6-218F-4A84-8964-DB315084C267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57200" cy="45720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EE7032-9976-4314-92DC-4838DCECF376}"/>
              </a:ext>
            </a:extLst>
          </p:cNvPr>
          <p:cNvSpPr>
            <a:spLocks noGrp="1"/>
          </p:cNvSpPr>
          <p:nvPr/>
        </p:nvSpPr>
        <p:spPr>
          <a:xfrm>
            <a:off x="1352550" y="30289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change set behavior.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B789F4-1D4D-4BC1-8B24-05BA2140CC87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457200" cy="4572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869329-B5AB-48F8-90BF-330A6864E021}"/>
              </a:ext>
            </a:extLst>
          </p:cNvPr>
          <p:cNvSpPr>
            <a:spLocks noGrp="1"/>
          </p:cNvSpPr>
          <p:nvPr/>
        </p:nvSpPr>
        <p:spPr>
          <a:xfrm>
            <a:off x="1352550" y="37719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stack rollback and termination protection concepts.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695257-E33E-4D36-9290-B818EF5EB936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457200" cy="457200"/>
          </a:xfrm>
          <a:prstGeom prst="rect">
            <a:avLst/>
          </a:prstGeom>
          <a:solidFill>
            <a:srgbClr val="1F6FE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A49CB8-D2CE-4AF4-92E7-68A8A648B606}"/>
              </a:ext>
            </a:extLst>
          </p:cNvPr>
          <p:cNvSpPr>
            <a:spLocks noGrp="1"/>
          </p:cNvSpPr>
          <p:nvPr/>
        </p:nvSpPr>
        <p:spPr>
          <a:xfrm>
            <a:off x="1352550" y="45148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drift detection.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36878B-71C7-4CB4-BBCC-D317EF7549F1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457200" cy="4572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A6486CB-178D-490B-95FD-D4086CFAB413}"/>
              </a:ext>
            </a:extLst>
          </p:cNvPr>
          <p:cNvSpPr>
            <a:spLocks noGrp="1"/>
          </p:cNvSpPr>
          <p:nvPr/>
        </p:nvSpPr>
        <p:spPr>
          <a:xfrm>
            <a:off x="1352550" y="52578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Create a stack only if your trainer permits it.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329118-7031-4639-ADAD-107C60CD5BA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FB7CEE-A553-40D5-92B9-DA15065D6742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16F526-5217-42BA-9992-03DA0B8E61E7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38300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AAFC3B-FF26-4A0A-953B-A7A5D7CAD85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2 CHECKPOINT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0B4D8C-10E6-4B8D-BF37-0AB0600CBCF5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Verify the outcome before moving 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3932EF-24DE-481B-AF8E-2F82C945E64C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F4E18F-905F-4083-AE1C-6BF884BECD36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10972800" cy="3143250"/>
          </a:xfrm>
          <a:prstGeom prst="roundRect">
            <a:avLst>
              <a:gd name="adj" fmla="val 3636"/>
            </a:avLst>
          </a:prstGeom>
          <a:solidFill>
            <a:srgbClr val="EAF8F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90F9C8-3A36-4AB3-AB4E-5066143B225D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650" b="1">
                <a:solidFill>
                  <a:srgbClr val="10B981"/>
                </a:solidFill>
              </a:defRPr>
            </a:pPr>
            <a:r>
              <a:rPr sz="465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0A07FA-ED91-4BEB-89A7-50BE9F0DA74F}"/>
              </a:ext>
            </a:extLst>
          </p:cNvPr>
          <p:cNvSpPr>
            <a:spLocks noGrp="1"/>
          </p:cNvSpPr>
          <p:nvPr/>
        </p:nvSpPr>
        <p:spPr>
          <a:xfrm>
            <a:off x="2095500" y="2095500"/>
            <a:ext cx="8763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• You should be able to explain how IaC, drift detection, and Config support controlled AWS operations.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48CB50-A754-4EEB-A0D1-821A461B949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486560-0320-4B03-89FA-788E09F01A30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E2405E5-B473-4E8B-AEFD-90803D0F82D1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69347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5479C6D-EA69-431A-A8FA-E171AD3BC73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HANDS-ON LAB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6FF295-601B-41BB-8728-1DD33C028FC0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CI/CD with CodePipeline, CodeBuild, CodeDeploy, and Artifact Stores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77919C-D1AC-4705-AA2D-850F18E8B8EA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3BA0B6-6E1C-4005-BCF4-E7DD84D09235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6858000" cy="34290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13AA0-AA5E-46D3-9F4F-6CF80E53922C}"/>
              </a:ext>
            </a:extLst>
          </p:cNvPr>
          <p:cNvSpPr>
            <a:spLocks noGrp="1"/>
          </p:cNvSpPr>
          <p:nvPr/>
        </p:nvSpPr>
        <p:spPr>
          <a:xfrm>
            <a:off x="876300" y="19050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Scenario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F606D4-C53D-4FDD-9E36-00D1E1C55496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6191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DevOps engineers automate safe application delivery. This lab designs a CI/CD workflow with testing, artifact management, approvals, deployment, and rollback.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179ED9-61AA-4FAE-AEEB-2D644AE84B9A}"/>
              </a:ext>
            </a:extLst>
          </p:cNvPr>
          <p:cNvSpPr>
            <a:spLocks noGrp="1"/>
          </p:cNvSpPr>
          <p:nvPr/>
        </p:nvSpPr>
        <p:spPr>
          <a:xfrm>
            <a:off x="7858125" y="1619250"/>
            <a:ext cx="3714750" cy="342900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3669E-EA76-4507-8117-341184264B87}"/>
              </a:ext>
            </a:extLst>
          </p:cNvPr>
          <p:cNvSpPr>
            <a:spLocks noGrp="1"/>
          </p:cNvSpPr>
          <p:nvPr/>
        </p:nvSpPr>
        <p:spPr>
          <a:xfrm>
            <a:off x="8143875" y="195262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Evidence to retain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B2B01E-8D2E-4325-9FC9-E6249FCDF16A}"/>
              </a:ext>
            </a:extLst>
          </p:cNvPr>
          <p:cNvSpPr>
            <a:spLocks noGrp="1"/>
          </p:cNvSpPr>
          <p:nvPr/>
        </p:nvSpPr>
        <p:spPr>
          <a:xfrm>
            <a:off x="8143875" y="247650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CI/CD service comparison table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Pipeline architecture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IAM role notes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Rollback and notification notes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2268C3-567A-4780-86DE-BA016F23123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2D73B9-7475-4475-A94A-90F35E7F429E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E46A41-D53C-4214-A909-2BAD2F2F66FA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947185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7067610-3B5A-448E-856E-FB74311192E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94F520-5E43-4C90-848D-9A6388ABF11F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Objectives and decision points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E29B4F-DE99-43FB-BDB6-3C2F9F86ACA0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0C3CF6D-CF70-4BAD-8AA3-CA5DB6A109D3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D577D0-D32A-4150-90DE-2873C9BD2A8B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5E35BF-54C1-4FDE-BA02-D3F0F621A252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558DF0-260A-4330-8CC7-2D8E7A2F182F}"/>
              </a:ext>
            </a:extLst>
          </p:cNvPr>
          <p:cNvSpPr>
            <a:spLocks noGrp="1"/>
          </p:cNvSpPr>
          <p:nvPr/>
        </p:nvSpPr>
        <p:spPr>
          <a:xfrm>
            <a:off x="142875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Design a CI/CD pipeline.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D33EA80-3288-45AD-B631-7E3668D3346D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820904-BAAA-4AF7-90F8-8EFFF52CDBB9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C55CBE-11C9-4D5E-A92B-EB8B8E6B1AA5}"/>
              </a:ext>
            </a:extLst>
          </p:cNvPr>
          <p:cNvSpPr>
            <a:spLocks noGrp="1"/>
          </p:cNvSpPr>
          <p:nvPr/>
        </p:nvSpPr>
        <p:spPr>
          <a:xfrm>
            <a:off x="630555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936480-582E-4C6F-8469-1133FFFD55D2}"/>
              </a:ext>
            </a:extLst>
          </p:cNvPr>
          <p:cNvSpPr>
            <a:spLocks noGrp="1"/>
          </p:cNvSpPr>
          <p:nvPr/>
        </p:nvSpPr>
        <p:spPr>
          <a:xfrm>
            <a:off x="689610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buildspec, artifacts, test stages, approvals, and deployment stages.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3D38653-199B-4847-91F8-17E869BBB56E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AC7198-7EEB-4005-B8D6-AA88F7E65D85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76200" cy="1257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6158CB-CC36-4E72-8EDF-4A2E3531F565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831C87-136E-46E9-AC05-243FEA7F3830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Compare CodePipeline, CodeBuild, CodeDeploy, and CodeArtifact concepts.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2FFC079-4B12-44FC-BAF0-595B1E6E4EE4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B06AD3-C820-49FA-B5B0-9F5BA720579F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76200" cy="12573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EC8073-3861-4514-AC6B-FEBA73745048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DCD946-5273-48A5-B7F5-7204030E6FFC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Plan rollback and failure handling.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268AE1-B052-4D30-8C51-FE2125C2A92C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68CF2E-3749-439E-8DE5-B94BAD2CCFF1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580FD3D-FA5A-459D-B3DF-395504B59B21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79620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503F93-3818-4E0C-AB60-5D474905172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3 PROCEDURE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DAECA5-C050-437B-A2D3-D8A5EAB9F172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Follow the lab sequence and capture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C78E31-3536-4CEF-8478-AF7338BDD1C7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E831F5-FE01-4025-83C0-8A5EFE0F553A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57200" cy="457200"/>
          </a:xfrm>
          <a:prstGeom prst="rect">
            <a:avLst/>
          </a:prstGeom>
          <a:solidFill>
            <a:srgbClr val="1F6FE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A482BE-49B6-4944-A2A3-2AA69EDCC5A2}"/>
              </a:ext>
            </a:extLst>
          </p:cNvPr>
          <p:cNvSpPr>
            <a:spLocks noGrp="1"/>
          </p:cNvSpPr>
          <p:nvPr/>
        </p:nvSpPr>
        <p:spPr>
          <a:xfrm>
            <a:off x="1352550" y="15430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Open CodePipeline.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70CAE2-9AA8-44FA-AF8F-26A5D0243429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457200" cy="4572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300631-C1EC-4E35-A685-9D388715CB69}"/>
              </a:ext>
            </a:extLst>
          </p:cNvPr>
          <p:cNvSpPr>
            <a:spLocks noGrp="1"/>
          </p:cNvSpPr>
          <p:nvPr/>
        </p:nvSpPr>
        <p:spPr>
          <a:xfrm>
            <a:off x="1352550" y="22860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pipeline stages, actions, transitions, and approvals.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B1755E-F675-4EC8-8CD5-AFA32454E498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57200" cy="45720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CEC96F-FB6F-4D51-9B69-3BA3F32E5A93}"/>
              </a:ext>
            </a:extLst>
          </p:cNvPr>
          <p:cNvSpPr>
            <a:spLocks noGrp="1"/>
          </p:cNvSpPr>
          <p:nvPr/>
        </p:nvSpPr>
        <p:spPr>
          <a:xfrm>
            <a:off x="1352550" y="30289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Open CodeBuild.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B56BD2-CEA3-4B63-B312-88DD6D414285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457200" cy="4572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1D6031-2EB1-4010-8A80-F1F941705D20}"/>
              </a:ext>
            </a:extLst>
          </p:cNvPr>
          <p:cNvSpPr>
            <a:spLocks noGrp="1"/>
          </p:cNvSpPr>
          <p:nvPr/>
        </p:nvSpPr>
        <p:spPr>
          <a:xfrm>
            <a:off x="1352550" y="37719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build projects, build environments, buildspec files, artifacts, reports, and logs.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D4E032-A1BA-40ED-80DF-BF1FA9253F84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457200" cy="457200"/>
          </a:xfrm>
          <a:prstGeom prst="rect">
            <a:avLst/>
          </a:prstGeom>
          <a:solidFill>
            <a:srgbClr val="1F6FE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C3958C-CB76-4060-B30A-6F4C9CC1C054}"/>
              </a:ext>
            </a:extLst>
          </p:cNvPr>
          <p:cNvSpPr>
            <a:spLocks noGrp="1"/>
          </p:cNvSpPr>
          <p:nvPr/>
        </p:nvSpPr>
        <p:spPr>
          <a:xfrm>
            <a:off x="1352550" y="45148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Open CodeDeploy.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8EAAED-E68A-42CB-8302-C6F270506C5F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457200" cy="4572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6EC46A-6329-49AE-B116-7B37422B9CCF}"/>
              </a:ext>
            </a:extLst>
          </p:cNvPr>
          <p:cNvSpPr>
            <a:spLocks noGrp="1"/>
          </p:cNvSpPr>
          <p:nvPr/>
        </p:nvSpPr>
        <p:spPr>
          <a:xfrm>
            <a:off x="1352550" y="52578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applications, deployment groups, deployment configurations, lifecycle hooks, and rollback.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1126CF-FEF0-44DA-9F4E-A42524F9D1F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6B8C50-8B99-44E7-B8F1-FFB6E65922E7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C92245-F754-4622-9A56-F63BF379B54C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3480230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79A9BF6-99A8-4A42-99DA-7978F68193B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3 CHECKPOINT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59683E-8373-4F40-9FC6-82716C4F176B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Verify the outcome before moving 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37B131-3698-4F7E-8F1C-32810DF28541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7EB45A-1574-4568-9DF7-D4A419BB1EE1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10972800" cy="3143250"/>
          </a:xfrm>
          <a:prstGeom prst="roundRect">
            <a:avLst>
              <a:gd name="adj" fmla="val 3636"/>
            </a:avLst>
          </a:prstGeom>
          <a:solidFill>
            <a:srgbClr val="EAF8F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1D1D61-BACF-4679-BC5A-5A2ABCB9DB35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650" b="1">
                <a:solidFill>
                  <a:srgbClr val="10B981"/>
                </a:solidFill>
              </a:defRPr>
            </a:pPr>
            <a:r>
              <a:rPr sz="465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954475-97D7-445B-A67F-1BBCB36DEC4E}"/>
              </a:ext>
            </a:extLst>
          </p:cNvPr>
          <p:cNvSpPr>
            <a:spLocks noGrp="1"/>
          </p:cNvSpPr>
          <p:nvPr/>
        </p:nvSpPr>
        <p:spPr>
          <a:xfrm>
            <a:off x="2095500" y="2095500"/>
            <a:ext cx="8763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• You should be able to explain professional CI/CD design, including artifacts, approvals, validation, and rollback.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B037FD-CEF1-4200-8CE7-B50D961FF34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51D8AE-C194-4F1F-A160-8F2D8F4C5B02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2C5B3E-8AF7-4854-959B-FD894BE91922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514051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0D2F60B-F087-4078-BA6F-5389947A935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836879-3E77-4A34-AD0B-E8D3DA6BE0EC}"/>
              </a:ext>
            </a:extLst>
          </p:cNvPr>
          <p:cNvSpPr>
            <a:spLocks noGrp="1"/>
          </p:cNvSpPr>
          <p:nvPr/>
        </p:nvSpPr>
        <p:spPr>
          <a:xfrm>
            <a:off x="723900" y="8572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0B981"/>
                </a:solidFill>
              </a:defRPr>
            </a:pPr>
            <a:r>
              <a:rPr sz="1275" b="1">
                <a:solidFill>
                  <a:srgbClr val="10B981"/>
                </a:solidFill>
              </a:rPr>
              <a:t>DOMAIN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AF4AA6-941B-41EF-A9D9-C694D2128ED4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8096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Deployment, Configuration and Operations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81E95A-6E61-4957-8282-8D6DB00875AF}"/>
              </a:ext>
            </a:extLst>
          </p:cNvPr>
          <p:cNvSpPr>
            <a:spLocks noGrp="1"/>
          </p:cNvSpPr>
          <p:nvPr/>
        </p:nvSpPr>
        <p:spPr>
          <a:xfrm>
            <a:off x="762000" y="3286125"/>
            <a:ext cx="7239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Build capability through labs 4, 5.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B686B5-48F7-4F38-8572-A63C6954210E}"/>
              </a:ext>
            </a:extLst>
          </p:cNvPr>
          <p:cNvSpPr>
            <a:spLocks noGrp="1"/>
          </p:cNvSpPr>
          <p:nvPr/>
        </p:nvSpPr>
        <p:spPr>
          <a:xfrm>
            <a:off x="8953500" y="1476375"/>
            <a:ext cx="2286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0" b="1">
                <a:solidFill>
                  <a:srgbClr val="E8EDF4"/>
                </a:solidFill>
              </a:defRPr>
            </a:pPr>
            <a:r>
              <a:rPr sz="9000" b="1">
                <a:solidFill>
                  <a:srgbClr val="E8EDF4"/>
                </a:solidFill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228DEA-2971-4516-A62D-F708B66DAF3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21BA32-13E2-444E-A8D5-22B39943E294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F6F3D3-D81D-497F-BE63-75EA9B9C62A1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472197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FAF029B-7BDE-4EB4-A043-CEDE1A3B0AAB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HANDS-ON LAB 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72A52C-2261-4FA1-B242-65A8308454FB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Deployment Strategies for Lambda, ECS, EC2, and Elastic Beanstalk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429B34-DBCD-42FA-B9D4-E8E2718F26BF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8A1098-9F89-4FD9-9C4C-B71274388019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6858000" cy="34290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8C2F50-DF0D-4424-B9F8-B4F1B964E030}"/>
              </a:ext>
            </a:extLst>
          </p:cNvPr>
          <p:cNvSpPr>
            <a:spLocks noGrp="1"/>
          </p:cNvSpPr>
          <p:nvPr/>
        </p:nvSpPr>
        <p:spPr>
          <a:xfrm>
            <a:off x="876300" y="19050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Scenario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C926B8-05F4-4E8A-94DF-968723D740D8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6191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Different workloads require different deployment strategies. You will compare controlled release patterns and choose safe deployment approaches.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1AA55EB-700A-48FB-85B7-541AC5C5C5E8}"/>
              </a:ext>
            </a:extLst>
          </p:cNvPr>
          <p:cNvSpPr>
            <a:spLocks noGrp="1"/>
          </p:cNvSpPr>
          <p:nvPr/>
        </p:nvSpPr>
        <p:spPr>
          <a:xfrm>
            <a:off x="7858125" y="1619250"/>
            <a:ext cx="3714750" cy="342900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1802A9-90C4-4F1A-B672-B27D5E47346B}"/>
              </a:ext>
            </a:extLst>
          </p:cNvPr>
          <p:cNvSpPr>
            <a:spLocks noGrp="1"/>
          </p:cNvSpPr>
          <p:nvPr/>
        </p:nvSpPr>
        <p:spPr>
          <a:xfrm>
            <a:off x="8143875" y="195262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Evidence to retain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62AD2E-684C-42CB-94C0-23BEC3F7185B}"/>
              </a:ext>
            </a:extLst>
          </p:cNvPr>
          <p:cNvSpPr>
            <a:spLocks noGrp="1"/>
          </p:cNvSpPr>
          <p:nvPr/>
        </p:nvSpPr>
        <p:spPr>
          <a:xfrm>
            <a:off x="8143875" y="247650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Deployment strategy matrix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Health check and rollback notes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Traffic shifting notes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Monitoring requirements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DE70C5-F38B-4FA1-ACB1-22523A263B7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522815-B6EC-404E-AC9F-DDBBA571C726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84EC81-20C8-4329-B5FB-836B81247F01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720112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D8B1C44-8317-4DCF-8BF7-3FCABFE9CF1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LAB 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AE7AC1-CC4A-48E7-B8D0-0987FD56E596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Objectives and decision points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B8D789-86B6-4BFB-8E37-A9231FBA629E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55F601-2E3A-4C90-912F-779AAD612591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62FB72-1E44-41C0-BFE4-05D8728C4A2B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E2939B-D3C3-4DDF-B20C-4EB2C0171CCF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7976BB-5A0D-4522-B3C8-CD39F871D78F}"/>
              </a:ext>
            </a:extLst>
          </p:cNvPr>
          <p:cNvSpPr>
            <a:spLocks noGrp="1"/>
          </p:cNvSpPr>
          <p:nvPr/>
        </p:nvSpPr>
        <p:spPr>
          <a:xfrm>
            <a:off x="142875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Compare deployment strategies for different AWS compute platforms.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337AE6-5DB2-4248-9E8F-ACFED56A6B1A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1E3016-32EB-49E6-BAE0-7DDF5E2193F1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482B42-C959-4F9D-8D5F-9E8FA6D9192F}"/>
              </a:ext>
            </a:extLst>
          </p:cNvPr>
          <p:cNvSpPr>
            <a:spLocks noGrp="1"/>
          </p:cNvSpPr>
          <p:nvPr/>
        </p:nvSpPr>
        <p:spPr>
          <a:xfrm>
            <a:off x="630555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AD1B46-6E66-441C-8A18-2D7594F58EF3}"/>
              </a:ext>
            </a:extLst>
          </p:cNvPr>
          <p:cNvSpPr>
            <a:spLocks noGrp="1"/>
          </p:cNvSpPr>
          <p:nvPr/>
        </p:nvSpPr>
        <p:spPr>
          <a:xfrm>
            <a:off x="689610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blue/green, canary, linear, rolling, immutable, and all-at-once deployments.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EA246D-519C-4C66-BBC3-697EEE23848E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0A11B8-0E23-4FB2-A150-048A2D7DF14C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76200" cy="1257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638031-52A8-40C0-B89B-081FE8D1E8F9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8E03A-2DD6-406D-9E14-9ED15ED72D43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Understand traffic shifting, health checks, and rollback.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67CF804-C488-4886-960F-16D769965A61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B82D5F-4EF9-464E-9069-AD5A0E1EF33C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76200" cy="12573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42BFD6-8922-45C0-874D-318D3607E788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18FCCD-1085-40BA-8DCF-C4A48D60FE31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Design a deployment plan for multiple workload types.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A7428D-3F42-4087-A032-50CBD681CA9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60402D-A99E-483A-A35C-8AF0A36DD4E4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0B5213-3BA7-4FFE-B2AF-1800239713B3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2574401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E2B52DE-18A9-40EC-9DA3-B8F3C208292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LAB 4 PROCEDURE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2D8C5B-4BEF-4267-A57E-03A579C8DE7B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Follow the lab sequence and capture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B7E4F1-E740-465C-BDCD-DDADCA7423DB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1F66AB-43B0-459C-8949-74383392BF9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57200" cy="457200"/>
          </a:xfrm>
          <a:prstGeom prst="rect">
            <a:avLst/>
          </a:prstGeom>
          <a:solidFill>
            <a:srgbClr val="1F6FE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AECFF5-47C4-471F-8016-31501ED71C61}"/>
              </a:ext>
            </a:extLst>
          </p:cNvPr>
          <p:cNvSpPr>
            <a:spLocks noGrp="1"/>
          </p:cNvSpPr>
          <p:nvPr/>
        </p:nvSpPr>
        <p:spPr>
          <a:xfrm>
            <a:off x="1352550" y="15430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Lambda versions and aliases.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6D0233-140E-446A-92AD-DFB2AA8E7EE5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457200" cy="4572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492D0-373D-49A0-A0CB-9762D0B78D2B}"/>
              </a:ext>
            </a:extLst>
          </p:cNvPr>
          <p:cNvSpPr>
            <a:spLocks noGrp="1"/>
          </p:cNvSpPr>
          <p:nvPr/>
        </p:nvSpPr>
        <p:spPr>
          <a:xfrm>
            <a:off x="1352550" y="22860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Lambda traffic shifting with CodeDeploy concepts.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FD9578-E782-4D58-93B2-955E7E9AB275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57200" cy="45720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6B7DA0-3C91-4FCD-BC1C-E8624723E8CC}"/>
              </a:ext>
            </a:extLst>
          </p:cNvPr>
          <p:cNvSpPr>
            <a:spLocks noGrp="1"/>
          </p:cNvSpPr>
          <p:nvPr/>
        </p:nvSpPr>
        <p:spPr>
          <a:xfrm>
            <a:off x="1352550" y="30289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ECS services, task definitions, deployment controllers, and rolling updates.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7F23D2-F7F2-4BBB-A106-1A88E55D5D11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457200" cy="4572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F3F712-6834-4411-A2E9-7F401AEEC28F}"/>
              </a:ext>
            </a:extLst>
          </p:cNvPr>
          <p:cNvSpPr>
            <a:spLocks noGrp="1"/>
          </p:cNvSpPr>
          <p:nvPr/>
        </p:nvSpPr>
        <p:spPr>
          <a:xfrm>
            <a:off x="1352550" y="37719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blue/green deployments for ECS using CodeDeploy at a high level.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E5DF5A-0147-4CEE-A174-227127F02881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457200" cy="457200"/>
          </a:xfrm>
          <a:prstGeom prst="rect">
            <a:avLst/>
          </a:prstGeom>
          <a:solidFill>
            <a:srgbClr val="1F6FE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2C0BFF-A8CB-47A5-9BE6-A0554A525033}"/>
              </a:ext>
            </a:extLst>
          </p:cNvPr>
          <p:cNvSpPr>
            <a:spLocks noGrp="1"/>
          </p:cNvSpPr>
          <p:nvPr/>
        </p:nvSpPr>
        <p:spPr>
          <a:xfrm>
            <a:off x="1352550" y="45148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EC2 Auto Scaling rolling or immutable deployment concepts.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2B5299-0ED7-4994-84B7-056C46C9979D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457200" cy="4572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655EF6-D988-4B37-8F98-70B2A0705A36}"/>
              </a:ext>
            </a:extLst>
          </p:cNvPr>
          <p:cNvSpPr>
            <a:spLocks noGrp="1"/>
          </p:cNvSpPr>
          <p:nvPr/>
        </p:nvSpPr>
        <p:spPr>
          <a:xfrm>
            <a:off x="1352550" y="52578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Elastic Beanstalk deployment policies.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03AC21-9045-4092-B3D6-AA0FE28B6A5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C3E4EE-7878-4133-B303-D3DD74832971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C15EA4-014A-4500-B6F4-E037C172EB22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999054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6305125-05E1-459B-829F-7D68F6FDCE4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4 CHECKPOINT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9D4A95-B72E-45B8-9458-9318DF7C5F9A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Verify the outcome before moving 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5B9173-E327-497F-A044-0EFD0958DB27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F8E0BA-66C2-4316-9078-B0A7AD269997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10972800" cy="3143250"/>
          </a:xfrm>
          <a:prstGeom prst="roundRect">
            <a:avLst>
              <a:gd name="adj" fmla="val 3636"/>
            </a:avLst>
          </a:prstGeom>
          <a:solidFill>
            <a:srgbClr val="EAF8F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F15F67-2D2D-4FFE-BA9D-FAFEA1881420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650" b="1">
                <a:solidFill>
                  <a:srgbClr val="10B981"/>
                </a:solidFill>
              </a:defRPr>
            </a:pPr>
            <a:r>
              <a:rPr sz="465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77FB2B-EDFA-40B6-BA60-6D94539C06C0}"/>
              </a:ext>
            </a:extLst>
          </p:cNvPr>
          <p:cNvSpPr>
            <a:spLocks noGrp="1"/>
          </p:cNvSpPr>
          <p:nvPr/>
        </p:nvSpPr>
        <p:spPr>
          <a:xfrm>
            <a:off x="2095500" y="2095500"/>
            <a:ext cx="8763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• You should be able to select a deployment strategy based on workload type, risk, rollback needs, and availability requirements.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B3BC55-16A0-494F-B78B-F916B3D91E7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45B719-922F-4E34-AF54-75BE984ED1AC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D9AF1F-DA99-4BB5-B6CF-E7A825E63A66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206278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B5E9BB5-F8E5-4E5C-9D18-9626BE81ACA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HANDS-ON LAB 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81F8B6-DF36-4424-B3F5-AD83B20D4AEA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Systems Manager, Automation, Patch, Parameter Store, and Run Command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16C733-E84F-463F-B3E0-3E795DB110BE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152E51-F23D-4809-9DD8-2D6A43BF447F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6858000" cy="34290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EB77BC-E371-49CC-88BD-7F42E9D35F9D}"/>
              </a:ext>
            </a:extLst>
          </p:cNvPr>
          <p:cNvSpPr>
            <a:spLocks noGrp="1"/>
          </p:cNvSpPr>
          <p:nvPr/>
        </p:nvSpPr>
        <p:spPr>
          <a:xfrm>
            <a:off x="876300" y="19050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Scenario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1D3806-9B4F-4CCB-8421-7FF7966797DF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6191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DevOps teams operate fleets and automate routine administration. This lab reviews AWS Systems Manager as a control plane for secure operations.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294876-BD83-4760-865F-F75E6D854ED7}"/>
              </a:ext>
            </a:extLst>
          </p:cNvPr>
          <p:cNvSpPr>
            <a:spLocks noGrp="1"/>
          </p:cNvSpPr>
          <p:nvPr/>
        </p:nvSpPr>
        <p:spPr>
          <a:xfrm>
            <a:off x="7858125" y="1619250"/>
            <a:ext cx="3714750" cy="342900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137F34-5F57-45E7-BC9A-9BA04344F6C3}"/>
              </a:ext>
            </a:extLst>
          </p:cNvPr>
          <p:cNvSpPr>
            <a:spLocks noGrp="1"/>
          </p:cNvSpPr>
          <p:nvPr/>
        </p:nvSpPr>
        <p:spPr>
          <a:xfrm>
            <a:off x="8143875" y="195262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Evidence to retain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E1B4EB-5580-4B25-AEDA-9E9F72379441}"/>
              </a:ext>
            </a:extLst>
          </p:cNvPr>
          <p:cNvSpPr>
            <a:spLocks noGrp="1"/>
          </p:cNvSpPr>
          <p:nvPr/>
        </p:nvSpPr>
        <p:spPr>
          <a:xfrm>
            <a:off x="8143875" y="247650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Systems Manager capability table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Parameter Store vs Secrets Manager comparison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Patching workflow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Automation runbook outline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8F52C7-33E2-46A7-A0CF-0AB5189F9EB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5602AC-0666-4DCB-8F95-6C3176CA403A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5AA41E-86F4-402B-8308-90876FCA5B89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0388620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987574C-6AD8-4215-9E97-A25EFAFD3F9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LAB 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600C62-F044-4359-A9BA-A24C0E094B69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Objectives and decision points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ED5051-0420-4F20-9E4C-DD245262EBC7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C362295-7DEF-41B0-83AC-BAFCBDD8AF42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D56D75-5691-4E57-98BC-0CA6DAD1BA42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505387-FD2E-4965-8E67-76A138F3F3C5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96306A-0237-4705-8A3C-DA412DBCA792}"/>
              </a:ext>
            </a:extLst>
          </p:cNvPr>
          <p:cNvSpPr>
            <a:spLocks noGrp="1"/>
          </p:cNvSpPr>
          <p:nvPr/>
        </p:nvSpPr>
        <p:spPr>
          <a:xfrm>
            <a:off x="142875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Systems Manager operations capabilities.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F9D621-3BCC-42E8-A04D-89209433A916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07DA21-E968-4E81-9FE9-EC038A43415D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970A76-62F7-47BF-9AEB-7B79BB873559}"/>
              </a:ext>
            </a:extLst>
          </p:cNvPr>
          <p:cNvSpPr>
            <a:spLocks noGrp="1"/>
          </p:cNvSpPr>
          <p:nvPr/>
        </p:nvSpPr>
        <p:spPr>
          <a:xfrm>
            <a:off x="630555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23B502-92BF-4005-9B78-3AFF6663C92E}"/>
              </a:ext>
            </a:extLst>
          </p:cNvPr>
          <p:cNvSpPr>
            <a:spLocks noGrp="1"/>
          </p:cNvSpPr>
          <p:nvPr/>
        </p:nvSpPr>
        <p:spPr>
          <a:xfrm>
            <a:off x="689610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Understand Run Command, Session Manager, Automation, Patch Manager, and State Manager.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AEA7EDC-7AF0-442C-80FF-68ECF4EAC665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25348F-871E-4146-9F49-CEF51CBC9D01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76200" cy="1257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13EAE2-E72E-43B0-A4B4-169BDDB90036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C34090-D898-4EEF-B559-3582F455D1C3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Compare Parameter Store and Secrets Manager.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BE0D548-0A9F-478D-A375-4094DC93E464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A20E6A-8FFC-4698-B407-CDD99D565F90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76200" cy="12573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F07407-1403-4643-B0D0-34E3A3B6CEF6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FBD194-1966-4FC5-8C8D-BA184DE9DABD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Design fleet operations and remediation workflows.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498AE7-D80F-4ED8-A312-CEDE25A4E61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5F62FC-EBE7-4C50-BBF0-3FF8C4D938FA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F6D3E8-6059-4966-A2B8-7F52904BCB34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22264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C9DC7C8-755F-4410-9839-A57EEB11A3B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LAB 5 PROCEDURE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0DAE34-D3A1-4594-9848-874FC839DC92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Follow the lab sequence and capture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1DD7AF-A0E1-4EC1-ADA8-2B499D4A5F74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9AC94D-8238-4618-BF73-025ACA221D52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57200" cy="457200"/>
          </a:xfrm>
          <a:prstGeom prst="rect">
            <a:avLst/>
          </a:prstGeom>
          <a:solidFill>
            <a:srgbClr val="1F6FE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1ABC18-946F-4E59-A8CA-492BEF8255DB}"/>
              </a:ext>
            </a:extLst>
          </p:cNvPr>
          <p:cNvSpPr>
            <a:spLocks noGrp="1"/>
          </p:cNvSpPr>
          <p:nvPr/>
        </p:nvSpPr>
        <p:spPr>
          <a:xfrm>
            <a:off x="1352550" y="15430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Open Systems Manager.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39AA02-968C-4718-BDE2-1AE7498C4AC9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457200" cy="4572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E123A3-CB79-4DC9-86EF-3985E4360555}"/>
              </a:ext>
            </a:extLst>
          </p:cNvPr>
          <p:cNvSpPr>
            <a:spLocks noGrp="1"/>
          </p:cNvSpPr>
          <p:nvPr/>
        </p:nvSpPr>
        <p:spPr>
          <a:xfrm>
            <a:off x="1352550" y="22860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managed nodes and prerequisites.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3E29DE-4F13-4BDC-8444-86BFA7F4B029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57200" cy="45720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121081-593C-49CF-B365-A8EDCDA8A3EE}"/>
              </a:ext>
            </a:extLst>
          </p:cNvPr>
          <p:cNvSpPr>
            <a:spLocks noGrp="1"/>
          </p:cNvSpPr>
          <p:nvPr/>
        </p:nvSpPr>
        <p:spPr>
          <a:xfrm>
            <a:off x="1352550" y="30289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Run Command.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98531B-9701-473F-BCC7-844A3CC9CF0D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457200" cy="4572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D17AEA-F703-4DD4-8A73-3E62CAE7045E}"/>
              </a:ext>
            </a:extLst>
          </p:cNvPr>
          <p:cNvSpPr>
            <a:spLocks noGrp="1"/>
          </p:cNvSpPr>
          <p:nvPr/>
        </p:nvSpPr>
        <p:spPr>
          <a:xfrm>
            <a:off x="1352550" y="37719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Session Manager and why it can reduce SSH exposure.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47F98B-10D9-476E-A9DB-6BF52432A3B3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457200" cy="457200"/>
          </a:xfrm>
          <a:prstGeom prst="rect">
            <a:avLst/>
          </a:prstGeom>
          <a:solidFill>
            <a:srgbClr val="1F6FE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8455BF-C394-44F7-859A-DFA7FB1272F2}"/>
              </a:ext>
            </a:extLst>
          </p:cNvPr>
          <p:cNvSpPr>
            <a:spLocks noGrp="1"/>
          </p:cNvSpPr>
          <p:nvPr/>
        </p:nvSpPr>
        <p:spPr>
          <a:xfrm>
            <a:off x="1352550" y="45148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Automation runbooks.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F3B4E3-26B5-40DF-9C2B-904A1F6EC05B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457200" cy="4572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0D3CC7-0E88-4960-8167-F1B606720EAD}"/>
              </a:ext>
            </a:extLst>
          </p:cNvPr>
          <p:cNvSpPr>
            <a:spLocks noGrp="1"/>
          </p:cNvSpPr>
          <p:nvPr/>
        </p:nvSpPr>
        <p:spPr>
          <a:xfrm>
            <a:off x="1352550" y="52578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Patch Manager.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AFDE54-2030-4DEB-BDD7-6731EA6A2A3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43417C-D5C7-4E0E-BEEF-F96A86AE6AAF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B7594E-A84B-4398-B935-9DB58EA3BFF1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465501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B1E927-9B3C-42D7-9429-82374A10AAB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5 CHECKPOINT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A0179D-6410-4A67-A9B4-C8D01C7ECC46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Verify the outcome before moving 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EDFB63-0D35-4A0D-B189-0B49D4CD407B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6CE5C8-D846-4D32-A144-D9A8632F10C0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10972800" cy="3143250"/>
          </a:xfrm>
          <a:prstGeom prst="roundRect">
            <a:avLst>
              <a:gd name="adj" fmla="val 3636"/>
            </a:avLst>
          </a:prstGeom>
          <a:solidFill>
            <a:srgbClr val="EAF8F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80EC66-76B5-4D6D-8213-CCEF0C088077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650" b="1">
                <a:solidFill>
                  <a:srgbClr val="10B981"/>
                </a:solidFill>
              </a:defRPr>
            </a:pPr>
            <a:r>
              <a:rPr sz="465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91C9F1-1D92-4494-BBA8-ACAA23B96492}"/>
              </a:ext>
            </a:extLst>
          </p:cNvPr>
          <p:cNvSpPr>
            <a:spLocks noGrp="1"/>
          </p:cNvSpPr>
          <p:nvPr/>
        </p:nvSpPr>
        <p:spPr>
          <a:xfrm>
            <a:off x="2095500" y="2095500"/>
            <a:ext cx="8763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• You should be able to explain how Systems Manager supports secure fleet operations and automation.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BFCC9B-4F3E-4DA1-9060-CAA6E0BC0D9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EB4B09-F1ED-4EAA-81B1-E925EAC5F5B5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291FE6-39FB-4419-9988-ADFBD6BFFECB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480492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EE5A56-01D2-4770-8370-804CB98F15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851F0B-0880-49B1-8145-094E391A0216}"/>
              </a:ext>
            </a:extLst>
          </p:cNvPr>
          <p:cNvSpPr>
            <a:spLocks noGrp="1"/>
          </p:cNvSpPr>
          <p:nvPr/>
        </p:nvSpPr>
        <p:spPr>
          <a:xfrm>
            <a:off x="723900" y="8572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7C3AED"/>
                </a:solidFill>
              </a:defRPr>
            </a:pPr>
            <a:r>
              <a:rPr sz="1275" b="1">
                <a:solidFill>
                  <a:srgbClr val="7C3AED"/>
                </a:solidFill>
              </a:rPr>
              <a:t>DOMAIN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217AAB-5CC2-476B-80B3-6027467DBA3F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8096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Monitoring, Incident Response and Resilience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6C1407-0333-4520-AA0B-9A52B17C27B5}"/>
              </a:ext>
            </a:extLst>
          </p:cNvPr>
          <p:cNvSpPr>
            <a:spLocks noGrp="1"/>
          </p:cNvSpPr>
          <p:nvPr/>
        </p:nvSpPr>
        <p:spPr>
          <a:xfrm>
            <a:off x="762000" y="3286125"/>
            <a:ext cx="7239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Build capability through labs 6, 7.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4F1EF4-CCA7-4381-BDF2-0C3F0DF6513F}"/>
              </a:ext>
            </a:extLst>
          </p:cNvPr>
          <p:cNvSpPr>
            <a:spLocks noGrp="1"/>
          </p:cNvSpPr>
          <p:nvPr/>
        </p:nvSpPr>
        <p:spPr>
          <a:xfrm>
            <a:off x="8953500" y="1476375"/>
            <a:ext cx="2286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0" b="1">
                <a:solidFill>
                  <a:srgbClr val="E8EDF4"/>
                </a:solidFill>
              </a:defRPr>
            </a:pPr>
            <a:r>
              <a:rPr sz="9000" b="1">
                <a:solidFill>
                  <a:srgbClr val="E8EDF4"/>
                </a:solidFill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9CDAB6-2E7D-434F-B1CA-1EE0E5267529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D9670E-FA2C-42A4-A8B2-0058BA75AE5C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34DF2A-2388-4BB1-BE34-BC7840F19FFF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389685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7B2F5DD-8029-4A63-A4B1-F4608D369A9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HANDS-ON LAB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CDE963-C60E-4746-B666-44B30AEB882D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Observability with CloudWatch, X-Ray, CloudTrail, EventBridge, and Alarms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20C518-BA79-4FC2-BCEB-04F0ACC98767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34C8FD-6BE8-4ED4-9973-61A8E4B22704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6858000" cy="34290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0E4A1A-57C6-4384-ACE6-8008234C80B9}"/>
              </a:ext>
            </a:extLst>
          </p:cNvPr>
          <p:cNvSpPr>
            <a:spLocks noGrp="1"/>
          </p:cNvSpPr>
          <p:nvPr/>
        </p:nvSpPr>
        <p:spPr>
          <a:xfrm>
            <a:off x="876300" y="19050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Scenario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94CE52-6C6B-4E52-9ACE-B1A2A45F781C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6191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Reliable DevOps requires visibility into system behavior. You will design a monitoring and incident signal model for a distributed application.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55B04C4-67CB-409A-9784-14490E52B205}"/>
              </a:ext>
            </a:extLst>
          </p:cNvPr>
          <p:cNvSpPr>
            <a:spLocks noGrp="1"/>
          </p:cNvSpPr>
          <p:nvPr/>
        </p:nvSpPr>
        <p:spPr>
          <a:xfrm>
            <a:off x="7858125" y="1619250"/>
            <a:ext cx="3714750" cy="342900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0827C0-C518-42A2-B5C0-771AD04C2C2B}"/>
              </a:ext>
            </a:extLst>
          </p:cNvPr>
          <p:cNvSpPr>
            <a:spLocks noGrp="1"/>
          </p:cNvSpPr>
          <p:nvPr/>
        </p:nvSpPr>
        <p:spPr>
          <a:xfrm>
            <a:off x="8143875" y="195262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Evidence to retain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17DB3A-409D-4794-BAA3-C0A92487FC92}"/>
              </a:ext>
            </a:extLst>
          </p:cNvPr>
          <p:cNvSpPr>
            <a:spLocks noGrp="1"/>
          </p:cNvSpPr>
          <p:nvPr/>
        </p:nvSpPr>
        <p:spPr>
          <a:xfrm>
            <a:off x="8143875" y="247650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Observability design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Alarm and SLI list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Log retention notes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Event-driven incident routing notes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4698A8-4B3D-4874-ADD6-173DFED7AB4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81C44C-8E53-4A4A-BA77-294A0C3BB000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678DE7-3EC3-4741-BD05-3D1706DB4BDD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6482558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B402E93-8CFF-4913-93B3-4E323683171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7107E6-1A68-47B4-AF9A-1A68264F5C7D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Objectives and decision points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1C4E60-C60F-454A-A3BB-6FD705FF9279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35B2DF-9FC2-49BB-A026-990095E58832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2B29FF-8DED-48D9-A78C-42A787ECE171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6D076D-69F1-404E-8A4D-F2F53B71C4E4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03AA2C-73EE-450B-B04A-D11F0F0C6458}"/>
              </a:ext>
            </a:extLst>
          </p:cNvPr>
          <p:cNvSpPr>
            <a:spLocks noGrp="1"/>
          </p:cNvSpPr>
          <p:nvPr/>
        </p:nvSpPr>
        <p:spPr>
          <a:xfrm>
            <a:off x="142875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Design observability for AWS applications and infrastructure.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7E461D5-FAFB-44CA-AFFC-AE31D5731A08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61715F-14A9-4A8E-A9EC-93FBBFC3DBEE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C95C72-5116-4E35-8190-C0FD02DCBBB0}"/>
              </a:ext>
            </a:extLst>
          </p:cNvPr>
          <p:cNvSpPr>
            <a:spLocks noGrp="1"/>
          </p:cNvSpPr>
          <p:nvPr/>
        </p:nvSpPr>
        <p:spPr>
          <a:xfrm>
            <a:off x="630555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83420B-C533-4CA5-A0CB-07957E54F8C8}"/>
              </a:ext>
            </a:extLst>
          </p:cNvPr>
          <p:cNvSpPr>
            <a:spLocks noGrp="1"/>
          </p:cNvSpPr>
          <p:nvPr/>
        </p:nvSpPr>
        <p:spPr>
          <a:xfrm>
            <a:off x="689610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Use metrics, logs, traces, dashboards, and alarms conceptually.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07AD365-3B1A-4C2C-84C6-2CD2C5018620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0C8D5C-DE3A-44E5-BB8E-55C873257F51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76200" cy="1257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DE274E-851C-4EEE-97CB-AEA7F96280B6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8EAA75-503C-4A84-928D-EEC0D0493522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X-Ray and distributed tracing.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2F7A7DD-3F95-4D9B-8217-567F5D32CC1C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F6D7C2-FF45-4F36-9193-A5363996F6A6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76200" cy="12573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A54C89-1030-4B35-A2DB-1A200D64CAE6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F6946E-A636-4F2F-A630-E8E447A1BCD4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Route operational events with EventBridge.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EC0D85-4AD6-4C9C-8C22-52216DF5D51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A550D8-A03C-4B8E-960D-E323BB45F46A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2272B5C-DD25-4EFD-9661-8C8A6ECAD33E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7311379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37BE35C-EF31-4111-AB28-034E6EA426E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6 PROCEDURE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77AE1D-743C-4CE6-9222-478EC0E4B350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Follow the lab sequence and capture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1F8C5E5-AC61-494D-A35B-C7E72302E74C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BB6012-C457-4646-B1FF-424E6E6478E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57200" cy="457200"/>
          </a:xfrm>
          <a:prstGeom prst="rect">
            <a:avLst/>
          </a:prstGeom>
          <a:solidFill>
            <a:srgbClr val="1F6FE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FDC896-2F1A-4AEB-A789-6C24E5F6F502}"/>
              </a:ext>
            </a:extLst>
          </p:cNvPr>
          <p:cNvSpPr>
            <a:spLocks noGrp="1"/>
          </p:cNvSpPr>
          <p:nvPr/>
        </p:nvSpPr>
        <p:spPr>
          <a:xfrm>
            <a:off x="1352550" y="15430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Open CloudWatch.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03F1CF-C085-46DD-9DE0-B511E193C861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457200" cy="4572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AD1294-9E6A-4156-86FE-F7ADF48D7E90}"/>
              </a:ext>
            </a:extLst>
          </p:cNvPr>
          <p:cNvSpPr>
            <a:spLocks noGrp="1"/>
          </p:cNvSpPr>
          <p:nvPr/>
        </p:nvSpPr>
        <p:spPr>
          <a:xfrm>
            <a:off x="1352550" y="22860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metrics, namespaces, dimensions, dashboards, and alarms.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4C89DD-BE25-4BDD-BC39-F91DF9F4D7F0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57200" cy="45720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AEDE2C-0438-46A9-AFA4-626B1FF654F1}"/>
              </a:ext>
            </a:extLst>
          </p:cNvPr>
          <p:cNvSpPr>
            <a:spLocks noGrp="1"/>
          </p:cNvSpPr>
          <p:nvPr/>
        </p:nvSpPr>
        <p:spPr>
          <a:xfrm>
            <a:off x="1352550" y="30289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CloudWatch Logs, log groups, metric filters, and subscription filters.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975ADE-D381-4FEA-8A22-D91D5B3DC780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457200" cy="4572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C413E0-654F-4D3F-BBA9-AFB9D46FCAED}"/>
              </a:ext>
            </a:extLst>
          </p:cNvPr>
          <p:cNvSpPr>
            <a:spLocks noGrp="1"/>
          </p:cNvSpPr>
          <p:nvPr/>
        </p:nvSpPr>
        <p:spPr>
          <a:xfrm>
            <a:off x="1352550" y="37719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anomaly detection and composite alarms at a high level.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8E315C-1B97-43D8-B4FC-1FB8203C0BAE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457200" cy="457200"/>
          </a:xfrm>
          <a:prstGeom prst="rect">
            <a:avLst/>
          </a:prstGeom>
          <a:solidFill>
            <a:srgbClr val="1F6FE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6D718D-5162-4BB4-AEB7-C168EF1731FF}"/>
              </a:ext>
            </a:extLst>
          </p:cNvPr>
          <p:cNvSpPr>
            <a:spLocks noGrp="1"/>
          </p:cNvSpPr>
          <p:nvPr/>
        </p:nvSpPr>
        <p:spPr>
          <a:xfrm>
            <a:off x="1352550" y="45148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Open X-Ray.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F916BA-41DC-4483-BF91-CDB45A8800A9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457200" cy="4572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CCE221-6DB5-423A-A00E-41776F9CE5C8}"/>
              </a:ext>
            </a:extLst>
          </p:cNvPr>
          <p:cNvSpPr>
            <a:spLocks noGrp="1"/>
          </p:cNvSpPr>
          <p:nvPr/>
        </p:nvSpPr>
        <p:spPr>
          <a:xfrm>
            <a:off x="1352550" y="52578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service maps, traces, segments, subsegments, and sampling.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DEDBA6-7B8B-479D-A224-023D2F5728D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56530E-F5C7-473C-AA39-207B2C33CDD0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59499F-B220-4CA0-ADA4-7D31B3D09317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0868165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B842739-2E4E-41E7-A3F0-3A7F6BF112E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6 CHECKPOINT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248509-B9FD-4F9C-B6DE-40E393FD7DA5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Verify the outcome before moving 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2BD73A-4B59-4CE0-873D-75BF0AF6CE2A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5203E3-E4C1-4DBA-99F9-3011DB2DF958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10972800" cy="3143250"/>
          </a:xfrm>
          <a:prstGeom prst="roundRect">
            <a:avLst>
              <a:gd name="adj" fmla="val 3636"/>
            </a:avLst>
          </a:prstGeom>
          <a:solidFill>
            <a:srgbClr val="EAF8F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73CF53-81FC-4DC2-BFCD-D0ED0595ABD7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650" b="1">
                <a:solidFill>
                  <a:srgbClr val="10B981"/>
                </a:solidFill>
              </a:defRPr>
            </a:pPr>
            <a:r>
              <a:rPr sz="465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6B7538-64F7-48B2-AE6A-0797BAA4243B}"/>
              </a:ext>
            </a:extLst>
          </p:cNvPr>
          <p:cNvSpPr>
            <a:spLocks noGrp="1"/>
          </p:cNvSpPr>
          <p:nvPr/>
        </p:nvSpPr>
        <p:spPr>
          <a:xfrm>
            <a:off x="2095500" y="2095500"/>
            <a:ext cx="8763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• You should be able to design observability that supports troubleshooting, alerting, and automated response.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31958C-5E1A-4BF6-9A84-C2D55452788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B97792-8483-4B98-B93B-1B24AD9ACAF4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4A9842-D18F-4B64-9D00-1617346A6B8D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9208703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AE81A8B-728F-48E4-9184-5DC4EEC6E1F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HANDS-ON LAB 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34DD28-FBE8-4577-9823-13A65D94FE16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High Availability, Backup, Disaster Recovery, and Auto Remediation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72569F-9BEE-4E91-A1C7-8BCC90DD7535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E0E017-10C5-42AA-B82E-111DF0B3A04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6858000" cy="34290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A445E3-9B2A-4684-B46A-04AE9B393666}"/>
              </a:ext>
            </a:extLst>
          </p:cNvPr>
          <p:cNvSpPr>
            <a:spLocks noGrp="1"/>
          </p:cNvSpPr>
          <p:nvPr/>
        </p:nvSpPr>
        <p:spPr>
          <a:xfrm>
            <a:off x="876300" y="19050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Scenario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B1B78E-03B4-4B58-9B7A-C906B713A8F7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6191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Professional DevOps engineers design for failure. This lab covers availability, backup, routing, scaling, and automated recovery.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C84870-095A-4A4B-911B-8E66FE2E8A11}"/>
              </a:ext>
            </a:extLst>
          </p:cNvPr>
          <p:cNvSpPr>
            <a:spLocks noGrp="1"/>
          </p:cNvSpPr>
          <p:nvPr/>
        </p:nvSpPr>
        <p:spPr>
          <a:xfrm>
            <a:off x="7858125" y="1619250"/>
            <a:ext cx="3714750" cy="342900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48010F-F716-4F33-88AB-9BA663893A73}"/>
              </a:ext>
            </a:extLst>
          </p:cNvPr>
          <p:cNvSpPr>
            <a:spLocks noGrp="1"/>
          </p:cNvSpPr>
          <p:nvPr/>
        </p:nvSpPr>
        <p:spPr>
          <a:xfrm>
            <a:off x="8143875" y="195262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Evidence to retain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6ABCBC-B9BD-490F-A7BC-4D6AE1B87D7B}"/>
              </a:ext>
            </a:extLst>
          </p:cNvPr>
          <p:cNvSpPr>
            <a:spLocks noGrp="1"/>
          </p:cNvSpPr>
          <p:nvPr/>
        </p:nvSpPr>
        <p:spPr>
          <a:xfrm>
            <a:off x="8143875" y="247650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HA and DR pattern comparison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Backup and restore plan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RTO/RPO notes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Auto remediation workflow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6634BB-A317-4B10-85A0-5D744D91144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D76DB3-BB8C-4858-BCB4-2B43E692552B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48637E-1AAE-40A1-8CAD-3857FFAAF8AB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8070683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28CC46E-8B32-4F44-A1DE-8E118C4C29C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4078D9-EAE0-4078-AA26-10773A31C3DB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Objectives and decision points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E500A6-9520-4D6A-9F26-97731F8EB1AA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8A253B-C385-423D-86B0-71146C086ED8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C3F779-5FA3-4A10-8DFB-9235D8203B6D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DF69B9-A8CD-4FF1-A4CE-9F43946918C8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93F597-BD31-45DD-870B-E5DC0AD4074D}"/>
              </a:ext>
            </a:extLst>
          </p:cNvPr>
          <p:cNvSpPr>
            <a:spLocks noGrp="1"/>
          </p:cNvSpPr>
          <p:nvPr/>
        </p:nvSpPr>
        <p:spPr>
          <a:xfrm>
            <a:off x="142875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high availability and disaster recovery patterns.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B14DFB-22C4-4CCD-B4E2-704F29118D6B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D3EFA2-18CF-4312-B0B8-F316F88A8A56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60AA3D-4AB0-4B46-927B-3995284B227C}"/>
              </a:ext>
            </a:extLst>
          </p:cNvPr>
          <p:cNvSpPr>
            <a:spLocks noGrp="1"/>
          </p:cNvSpPr>
          <p:nvPr/>
        </p:nvSpPr>
        <p:spPr>
          <a:xfrm>
            <a:off x="630555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184CB3-A933-464A-AF2A-DAFBCB4FA57F}"/>
              </a:ext>
            </a:extLst>
          </p:cNvPr>
          <p:cNvSpPr>
            <a:spLocks noGrp="1"/>
          </p:cNvSpPr>
          <p:nvPr/>
        </p:nvSpPr>
        <p:spPr>
          <a:xfrm>
            <a:off x="689610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Understand backup and restore services.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455227-B81D-4C59-B243-9601965E1887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93C08C-BBFA-4A56-86BD-C90C48A88F93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76200" cy="1257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FFFF4C-7A60-4730-8305-F0B3C71AEAE8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AD305C-379B-49FB-9A81-51715BF40306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Design auto remediation workflows.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5351B4B-6D71-49A3-9689-1EF3F29A8CD3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656D6F-B2DD-4AD0-B2E3-E940F5902B8D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76200" cy="12573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827B11-00E3-4F44-A213-772901569432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5662E2C-AEAD-469D-B1E7-51FCC82FF871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Compare RTO, RPO, and resilience tradeoffs.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600652-B7E9-44C8-BB71-3838673FE99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AD0A8A-B0BD-481B-9357-68A8EE621702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E73EAC-498A-42EC-93C2-0F80813EACC8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6417194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DA42851-1C13-4139-BDBB-A73450687BA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LAB 7 PROCEDURE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A4119B-7C8E-4733-8F72-C0151C14C5F4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Follow the lab sequence and capture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F2D9FD-305F-4E13-8356-09D6725FC0B9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A2CA73-797A-47AD-AA93-D6F9809137A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57200" cy="457200"/>
          </a:xfrm>
          <a:prstGeom prst="rect">
            <a:avLst/>
          </a:prstGeom>
          <a:solidFill>
            <a:srgbClr val="1F6FE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3249FC-885F-4D5B-82F2-C7E4CDD28466}"/>
              </a:ext>
            </a:extLst>
          </p:cNvPr>
          <p:cNvSpPr>
            <a:spLocks noGrp="1"/>
          </p:cNvSpPr>
          <p:nvPr/>
        </p:nvSpPr>
        <p:spPr>
          <a:xfrm>
            <a:off x="1352550" y="15430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Multi-AZ and multi-region concepts.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8B342D-EFB4-4A50-8A0D-A6262D26A938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457200" cy="4572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FF8B70-24FF-4DD7-B893-36D7B1884747}"/>
              </a:ext>
            </a:extLst>
          </p:cNvPr>
          <p:cNvSpPr>
            <a:spLocks noGrp="1"/>
          </p:cNvSpPr>
          <p:nvPr/>
        </p:nvSpPr>
        <p:spPr>
          <a:xfrm>
            <a:off x="1352550" y="22860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Auto Scaling groups and scaling policies.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13F7D5-2DF4-4285-A569-B7A0B0FB3382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57200" cy="45720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8F25AB-752D-4312-8233-C9044A6908EB}"/>
              </a:ext>
            </a:extLst>
          </p:cNvPr>
          <p:cNvSpPr>
            <a:spLocks noGrp="1"/>
          </p:cNvSpPr>
          <p:nvPr/>
        </p:nvSpPr>
        <p:spPr>
          <a:xfrm>
            <a:off x="1352550" y="30289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Elastic Load Balancing health checks.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7A3AE8-3E0E-4A3F-89CC-711D16603D62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457200" cy="4572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697997-F1B3-4625-A8F7-1EA42B9C7780}"/>
              </a:ext>
            </a:extLst>
          </p:cNvPr>
          <p:cNvSpPr>
            <a:spLocks noGrp="1"/>
          </p:cNvSpPr>
          <p:nvPr/>
        </p:nvSpPr>
        <p:spPr>
          <a:xfrm>
            <a:off x="1352550" y="37719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Route 53 routing policies and health checks.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95D038-7F3D-40F1-A28B-B7F04C90D567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457200" cy="457200"/>
          </a:xfrm>
          <a:prstGeom prst="rect">
            <a:avLst/>
          </a:prstGeom>
          <a:solidFill>
            <a:srgbClr val="1F6FE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78A9C3-6086-46E8-85D3-CEFDAF57E161}"/>
              </a:ext>
            </a:extLst>
          </p:cNvPr>
          <p:cNvSpPr>
            <a:spLocks noGrp="1"/>
          </p:cNvSpPr>
          <p:nvPr/>
        </p:nvSpPr>
        <p:spPr>
          <a:xfrm>
            <a:off x="1352550" y="45148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Open AWS Backup and review backup plans, vaults, retention, and restore concepts.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79F0D5-07D9-4326-9E9B-EDC5C31A8484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457200" cy="4572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786DE9-184A-4FC4-9DC0-FF7DD298DAA5}"/>
              </a:ext>
            </a:extLst>
          </p:cNvPr>
          <p:cNvSpPr>
            <a:spLocks noGrp="1"/>
          </p:cNvSpPr>
          <p:nvPr/>
        </p:nvSpPr>
        <p:spPr>
          <a:xfrm>
            <a:off x="1352550" y="52578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RDS backup, snapshots, Multi-AZ, and read replica concepts.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963C16-D79E-4A8D-AAFB-0F8E25625538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302313-0821-4646-B4B2-F8BC81859371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75DAAF-6D58-434C-BA05-1BC2DB3770B4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0964267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DE5AD8B-BE0D-4120-A8AD-31D46E45310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7 CHECKPOINT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A93FCF-ED8F-4619-AD45-D66DE176C347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Verify the outcome before moving 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FB166E-1D29-4BC4-B606-DB71C714C530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F3CBF9-565E-4BAA-BA68-CBCE5F81DFA3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10972800" cy="3143250"/>
          </a:xfrm>
          <a:prstGeom prst="roundRect">
            <a:avLst>
              <a:gd name="adj" fmla="val 3636"/>
            </a:avLst>
          </a:prstGeom>
          <a:solidFill>
            <a:srgbClr val="EAF8F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B4B2E2-8959-415A-AC23-259390B069AE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650" b="1">
                <a:solidFill>
                  <a:srgbClr val="10B981"/>
                </a:solidFill>
              </a:defRPr>
            </a:pPr>
            <a:r>
              <a:rPr sz="465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497083-0941-433A-A84D-54DAC93D35A7}"/>
              </a:ext>
            </a:extLst>
          </p:cNvPr>
          <p:cNvSpPr>
            <a:spLocks noGrp="1"/>
          </p:cNvSpPr>
          <p:nvPr/>
        </p:nvSpPr>
        <p:spPr>
          <a:xfrm>
            <a:off x="2095500" y="2095500"/>
            <a:ext cx="8763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• You should be able to explain resilience design choices and automated recovery patterns for AWS applications.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6DDE58-C51C-4A39-8149-82E1F3BC664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C3C48D-8448-4597-8A5A-E9ECACC54800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79B439-A33E-4963-A087-66A53DD1F444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923296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ECC76BC-77F1-4F22-AD9B-58A5C641F0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09A99D-E503-4EE1-8EC6-9185EE876F7F}"/>
              </a:ext>
            </a:extLst>
          </p:cNvPr>
          <p:cNvSpPr>
            <a:spLocks noGrp="1"/>
          </p:cNvSpPr>
          <p:nvPr/>
        </p:nvSpPr>
        <p:spPr>
          <a:xfrm>
            <a:off x="723900" y="8572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F59E0B"/>
                </a:solidFill>
              </a:defRPr>
            </a:pPr>
            <a:r>
              <a:rPr sz="1275" b="1">
                <a:solidFill>
                  <a:srgbClr val="F59E0B"/>
                </a:solidFill>
              </a:rPr>
              <a:t>DOMAIN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CC9C6E-D171-463B-BD89-64674348DB7A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8096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</a:rPr>
              <a:t>Security, Compliance, Cost and Exam Readiness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98FEE6-F4B4-4975-9EAE-24BCD9F84175}"/>
              </a:ext>
            </a:extLst>
          </p:cNvPr>
          <p:cNvSpPr>
            <a:spLocks noGrp="1"/>
          </p:cNvSpPr>
          <p:nvPr/>
        </p:nvSpPr>
        <p:spPr>
          <a:xfrm>
            <a:off x="762000" y="3286125"/>
            <a:ext cx="7239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4B5563"/>
                </a:solidFill>
              </a:defRPr>
            </a:pPr>
            <a:r>
              <a:rPr sz="1800" b="0">
                <a:solidFill>
                  <a:srgbClr val="4B5563"/>
                </a:solidFill>
              </a:rPr>
              <a:t>Build capability through labs 8.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1F2A8D-9BE7-4A32-8691-7E0C05BBD6A3}"/>
              </a:ext>
            </a:extLst>
          </p:cNvPr>
          <p:cNvSpPr>
            <a:spLocks noGrp="1"/>
          </p:cNvSpPr>
          <p:nvPr/>
        </p:nvSpPr>
        <p:spPr>
          <a:xfrm>
            <a:off x="8953500" y="1476375"/>
            <a:ext cx="2286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0" b="1">
                <a:solidFill>
                  <a:srgbClr val="E8EDF4"/>
                </a:solidFill>
              </a:defRPr>
            </a:pPr>
            <a:r>
              <a:rPr sz="9000" b="1">
                <a:solidFill>
                  <a:srgbClr val="E8EDF4"/>
                </a:solidFill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BECB73-0D37-410F-A013-8C16183C9F9E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6FE45F-9614-41CE-970F-E51E2734DC9B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90415E-133F-4510-856A-55D4B90D6B98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1339490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6BD79D7-8985-40E0-AEF9-C0C93454303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HANDS-ON LAB 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21CDA9-6E17-456D-8EC2-D6E4B3E46355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Security, Compliance, Cost Optimization, and Exam Review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093557-F562-4722-9EC5-C6A2555A9683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1BCDC5-CBA9-4FD6-BC0F-918ED6CC60A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6858000" cy="34290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D13863-57FF-4428-AC2B-C3B672D0C98A}"/>
              </a:ext>
            </a:extLst>
          </p:cNvPr>
          <p:cNvSpPr>
            <a:spLocks noGrp="1"/>
          </p:cNvSpPr>
          <p:nvPr/>
        </p:nvSpPr>
        <p:spPr>
          <a:xfrm>
            <a:off x="876300" y="19050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Scenario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6ACE5B-4C30-4091-89C3-33CA9BB6DCA3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6191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The final lab connects security, compliance, cost management, governance, and exam readiness for AWS DevOps Engineer Professional scenarios.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D70186-319C-4A5A-A8A4-B1502C0FE7F6}"/>
              </a:ext>
            </a:extLst>
          </p:cNvPr>
          <p:cNvSpPr>
            <a:spLocks noGrp="1"/>
          </p:cNvSpPr>
          <p:nvPr/>
        </p:nvSpPr>
        <p:spPr>
          <a:xfrm>
            <a:off x="7858125" y="1619250"/>
            <a:ext cx="3714750" cy="3429000"/>
          </a:xfrm>
          <a:prstGeom prst="roundRect">
            <a:avLst>
              <a:gd name="adj" fmla="val 3333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2640EA-6F51-41F6-946C-063AD0897D10}"/>
              </a:ext>
            </a:extLst>
          </p:cNvPr>
          <p:cNvSpPr>
            <a:spLocks noGrp="1"/>
          </p:cNvSpPr>
          <p:nvPr/>
        </p:nvSpPr>
        <p:spPr>
          <a:xfrm>
            <a:off x="8143875" y="195262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Evidence to retain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F61D28-9BBB-485B-831A-0D3765DB4C6E}"/>
              </a:ext>
            </a:extLst>
          </p:cNvPr>
          <p:cNvSpPr>
            <a:spLocks noGrp="1"/>
          </p:cNvSpPr>
          <p:nvPr/>
        </p:nvSpPr>
        <p:spPr>
          <a:xfrm>
            <a:off x="8143875" y="2476500"/>
            <a:ext cx="30480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Security and compliance checklist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Cost optimization checklist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Exam-domain revision map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• Timed practice score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2C4FE7-AE0E-496F-AB73-B9DB362F2FC4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E61D37-1058-413F-A4C3-F70FA6DDB8F0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273685-0F89-4967-A4DC-7A1FF0066F32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228996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36D6B89-04F5-4835-AA94-83345B4ABB1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LAB 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F939E5-9905-4677-AC4C-4EE89B6C8F62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Objectives and decision points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92249A-733A-492B-961D-294F1D221C9F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235659C-F0EC-41DE-BB44-DD7CFF02F0DB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30FE28-9695-4992-9055-D9CD92212146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E5259A-E90E-49DB-924D-4710CAE10A23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8A5F13-D20A-46F4-99A1-57CE15A97C36}"/>
              </a:ext>
            </a:extLst>
          </p:cNvPr>
          <p:cNvSpPr>
            <a:spLocks noGrp="1"/>
          </p:cNvSpPr>
          <p:nvPr/>
        </p:nvSpPr>
        <p:spPr>
          <a:xfrm>
            <a:off x="142875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Review security and compliance guardrails for DevOps.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84B9FC0-FF76-4879-ABFB-321595E39474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C0F94F-6116-46A6-81FD-FC6B999404ED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7C2465-CA27-4A34-BFC9-23C1829C64F1}"/>
              </a:ext>
            </a:extLst>
          </p:cNvPr>
          <p:cNvSpPr>
            <a:spLocks noGrp="1"/>
          </p:cNvSpPr>
          <p:nvPr/>
        </p:nvSpPr>
        <p:spPr>
          <a:xfrm>
            <a:off x="630555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B891A5-5B3C-4395-84A4-C47799EED835}"/>
              </a:ext>
            </a:extLst>
          </p:cNvPr>
          <p:cNvSpPr>
            <a:spLocks noGrp="1"/>
          </p:cNvSpPr>
          <p:nvPr/>
        </p:nvSpPr>
        <p:spPr>
          <a:xfrm>
            <a:off x="689610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Plan cost optimization for delivery and operations.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ABAF69-0FE4-49FF-9B33-7896699C82BB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FAE036-E042-4893-BA64-36C342029F4E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76200" cy="1257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6DD13D-E0E5-4FF0-9EA5-4E5A10A5E06C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E797C0-B372-4E51-BA82-31FF0C1ABBEE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Map labs to exam domains.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2886CE8-665D-4F29-B559-CE85F4961CF5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A63C59-9F36-4FAE-B2C5-B61CE66090A1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76200" cy="12573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018480-30FC-4409-AB88-536B85C0EE80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070EEE-57E8-42EE-808A-2E06054A5540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Complete timed certification-style practice.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6ECACB-C6CB-4574-BAFF-132DCD66A8B5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BC0ECC-C244-4793-B893-60C00190E979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B363F7-DEB1-45EE-BD4A-133F407D4509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0684005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DD00E6A-1A33-4D4D-9BF3-EEF186EBFD2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LAB 8 PROCEDURE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4B8020-3609-4F4A-9941-1A24AFF75085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Follow the lab sequence and capture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3099C4-0FC2-457C-A494-B491FDEF718E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BB6C4F-D532-45DC-AB0F-900A71AC466C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57200" cy="457200"/>
          </a:xfrm>
          <a:prstGeom prst="rect">
            <a:avLst/>
          </a:prstGeom>
          <a:solidFill>
            <a:srgbClr val="1F6FE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92B5B-56A7-476F-BF14-0A2FDCE45886}"/>
              </a:ext>
            </a:extLst>
          </p:cNvPr>
          <p:cNvSpPr>
            <a:spLocks noGrp="1"/>
          </p:cNvSpPr>
          <p:nvPr/>
        </p:nvSpPr>
        <p:spPr>
          <a:xfrm>
            <a:off x="1352550" y="15430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Open Security Hub and review security posture concepts.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A5CB0B-CFD7-42DC-88CE-E47F3B089E99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457200" cy="4572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AD0C67-F85C-4C6E-8476-AB8992B8FA74}"/>
              </a:ext>
            </a:extLst>
          </p:cNvPr>
          <p:cNvSpPr>
            <a:spLocks noGrp="1"/>
          </p:cNvSpPr>
          <p:nvPr/>
        </p:nvSpPr>
        <p:spPr>
          <a:xfrm>
            <a:off x="1352550" y="22860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Open GuardDuty and review threat detection concepts.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451E25-ED8D-4967-B6A1-810E6E9BE0AB}"/>
              </a:ext>
            </a:extLst>
          </p:cNvPr>
          <p:cNvSpPr>
            <a:spLocks noGrp="1"/>
          </p:cNvSpPr>
          <p:nvPr/>
        </p:nvSpPr>
        <p:spPr>
          <a:xfrm>
            <a:off x="685800" y="3009900"/>
            <a:ext cx="457200" cy="457200"/>
          </a:xfrm>
          <a:prstGeom prst="rect">
            <a:avLst/>
          </a:prstGeom>
          <a:solidFill>
            <a:srgbClr val="7C3AED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E44388-DC36-449A-841E-271B6CED3DA7}"/>
              </a:ext>
            </a:extLst>
          </p:cNvPr>
          <p:cNvSpPr>
            <a:spLocks noGrp="1"/>
          </p:cNvSpPr>
          <p:nvPr/>
        </p:nvSpPr>
        <p:spPr>
          <a:xfrm>
            <a:off x="1352550" y="30289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IAM Access Analyzer and policy validation concepts.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716760-02D7-48ED-A790-88857C24E86B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457200" cy="4572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08976E-35D0-4F80-9C85-2BF20E2AFD3C}"/>
              </a:ext>
            </a:extLst>
          </p:cNvPr>
          <p:cNvSpPr>
            <a:spLocks noGrp="1"/>
          </p:cNvSpPr>
          <p:nvPr/>
        </p:nvSpPr>
        <p:spPr>
          <a:xfrm>
            <a:off x="1352550" y="37719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KMS, Secrets Manager, and Parameter Store.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408DC1-B5AF-4AD6-9F6F-C124404593DD}"/>
              </a:ext>
            </a:extLst>
          </p:cNvPr>
          <p:cNvSpPr>
            <a:spLocks noGrp="1"/>
          </p:cNvSpPr>
          <p:nvPr/>
        </p:nvSpPr>
        <p:spPr>
          <a:xfrm>
            <a:off x="685800" y="4495800"/>
            <a:ext cx="457200" cy="457200"/>
          </a:xfrm>
          <a:prstGeom prst="rect">
            <a:avLst/>
          </a:prstGeom>
          <a:solidFill>
            <a:srgbClr val="1F6FEB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4052CC-1734-4755-9C75-B6D17494FF8C}"/>
              </a:ext>
            </a:extLst>
          </p:cNvPr>
          <p:cNvSpPr>
            <a:spLocks noGrp="1"/>
          </p:cNvSpPr>
          <p:nvPr/>
        </p:nvSpPr>
        <p:spPr>
          <a:xfrm>
            <a:off x="1352550" y="451485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AWS Config rules and conformance packs.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A8AD9F-B1D6-445D-904C-3183B72D6CF9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457200" cy="457200"/>
          </a:xfrm>
          <a:prstGeom prst="rect">
            <a:avLst/>
          </a:prstGeom>
          <a:solidFill>
            <a:srgbClr val="10B981"/>
          </a:solidFill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66F3EB-9650-4664-90CD-2E8C72447321}"/>
              </a:ext>
            </a:extLst>
          </p:cNvPr>
          <p:cNvSpPr>
            <a:spLocks noGrp="1"/>
          </p:cNvSpPr>
          <p:nvPr/>
        </p:nvSpPr>
        <p:spPr>
          <a:xfrm>
            <a:off x="1352550" y="5257800"/>
            <a:ext cx="981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Review Service Control Policies and permission boundaries at a high level.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B2A403-5035-4848-B0B1-39A28E3550F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F70D07-96B3-4513-B7EC-3A04D22CF8B6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2E6DCE-4CBB-4BDD-B4DF-F3248BA93E0C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4403482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1B25C6A-B97E-44A1-B0EE-1F446BC6893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LAB 8 CHECKPOINT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1BB574-B38B-452F-AAAD-1ED3B6B262A7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Verify the outcome before moving 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23C914-F0C0-43C5-BE56-2F3A9C2EC949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C2FC781-4A6F-46B5-894B-35D099F97F31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10972800" cy="3143250"/>
          </a:xfrm>
          <a:prstGeom prst="roundRect">
            <a:avLst>
              <a:gd name="adj" fmla="val 3636"/>
            </a:avLst>
          </a:prstGeom>
          <a:solidFill>
            <a:srgbClr val="EAF8F1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11FF50-396C-41C1-90DB-753C0AE9F16C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857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650" b="1">
                <a:solidFill>
                  <a:srgbClr val="10B981"/>
                </a:solidFill>
              </a:defRPr>
            </a:pPr>
            <a:r>
              <a:rPr sz="4650" b="1">
                <a:solidFill>
                  <a:srgbClr val="10B981"/>
                </a:solidFill>
              </a:rPr>
              <a:t>✓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47265C-02CD-4AE0-A54A-F9F4FC45E1AB}"/>
              </a:ext>
            </a:extLst>
          </p:cNvPr>
          <p:cNvSpPr>
            <a:spLocks noGrp="1"/>
          </p:cNvSpPr>
          <p:nvPr/>
        </p:nvSpPr>
        <p:spPr>
          <a:xfrm>
            <a:off x="2095500" y="2095500"/>
            <a:ext cx="8763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• You should be ready to reason through advanced AWS DevOps scenarios covering delivery, operations, resilience, security,...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091C23-D9BF-4EA4-A46C-E3A8677518E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C5DD34-B865-4ED4-840F-7A756D341416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9859FE-011F-4457-83A5-0FC1493EDA81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9547636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5E6F483-E77C-49B0-8CB0-ACA373B296D0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COURSE RECAP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8409D1-E374-4356-BE0C-6B0C5DE1377D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What You Achieved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BB913D-78DD-45A0-BEC6-37D4A6782FCC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6ED570D-1FB2-48E8-86FF-069408FFC700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156062-0E36-468F-90B1-2F21F2E9DFDF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43329A-A036-43E0-917E-BCD961A57592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6C169-CCB6-476A-BA41-8FF609756F12}"/>
              </a:ext>
            </a:extLst>
          </p:cNvPr>
          <p:cNvSpPr>
            <a:spLocks noGrp="1"/>
          </p:cNvSpPr>
          <p:nvPr/>
        </p:nvSpPr>
        <p:spPr>
          <a:xfrm>
            <a:off x="142875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Governed AWS accounts and IAM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5502B98-80BF-46BD-A6F1-BBC0A111D865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859B10-F823-4385-9FDE-5F15214EEB6B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9E6113-0A12-4202-BDE3-6EE4E67B2126}"/>
              </a:ext>
            </a:extLst>
          </p:cNvPr>
          <p:cNvSpPr>
            <a:spLocks noGrp="1"/>
          </p:cNvSpPr>
          <p:nvPr/>
        </p:nvSpPr>
        <p:spPr>
          <a:xfrm>
            <a:off x="630555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013373-794F-4DA7-90DC-5463EF1205EE}"/>
              </a:ext>
            </a:extLst>
          </p:cNvPr>
          <p:cNvSpPr>
            <a:spLocks noGrp="1"/>
          </p:cNvSpPr>
          <p:nvPr/>
        </p:nvSpPr>
        <p:spPr>
          <a:xfrm>
            <a:off x="689610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Designed repeatable infrastructure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763C4E2-218E-436F-9B4A-E48136D2FFE6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C8644E-F7CA-431D-A1BA-200DB1883E43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76200" cy="1257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AF55F8-5C0E-4492-86C2-A7CDEAA18435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AAF444-4BBD-4108-AD9F-F24BBD6EE65C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Mapped CI/CD and deployment controls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F7C02B9-5BA3-4257-B06F-C811F75BD724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F0E383-08DD-4F42-BF6A-2CC196B21D2D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76200" cy="12573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10A417-8C5F-4CC8-885C-AC126CA0A410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1D8D78-C603-4D71-8EC3-BDC9E7C39649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Planned fleet automation and patching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DEAFE21-83F8-4485-AC00-39AA2391874C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ED5F44-6C37-475D-A5AE-7FEEA90900AD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7DF350-56CC-43A8-8303-94B2E2B320F3}"/>
              </a:ext>
            </a:extLst>
          </p:cNvPr>
          <p:cNvSpPr>
            <a:spLocks noGrp="1"/>
          </p:cNvSpPr>
          <p:nvPr/>
        </p:nvSpPr>
        <p:spPr>
          <a:xfrm>
            <a:off x="838200" y="46863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C13A4B-1CA0-448A-BBCB-0BD41145F416}"/>
              </a:ext>
            </a:extLst>
          </p:cNvPr>
          <p:cNvSpPr>
            <a:spLocks noGrp="1"/>
          </p:cNvSpPr>
          <p:nvPr/>
        </p:nvSpPr>
        <p:spPr>
          <a:xfrm>
            <a:off x="1428750" y="46482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Connected metrics, logs, traces and events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BD2D56C-69C6-4CCD-9436-EE6707E77177}"/>
              </a:ext>
            </a:extLst>
          </p:cNvPr>
          <p:cNvSpPr>
            <a:spLocks noGrp="1"/>
          </p:cNvSpPr>
          <p:nvPr/>
        </p:nvSpPr>
        <p:spPr>
          <a:xfrm>
            <a:off x="6076950" y="44767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2EE2521-D4EB-42EE-9767-41558F82C9F4}"/>
              </a:ext>
            </a:extLst>
          </p:cNvPr>
          <p:cNvSpPr>
            <a:spLocks noGrp="1"/>
          </p:cNvSpPr>
          <p:nvPr/>
        </p:nvSpPr>
        <p:spPr>
          <a:xfrm>
            <a:off x="6076950" y="44767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856A49-FA78-49C6-8DFB-19FB8D003E5F}"/>
              </a:ext>
            </a:extLst>
          </p:cNvPr>
          <p:cNvSpPr>
            <a:spLocks noGrp="1"/>
          </p:cNvSpPr>
          <p:nvPr/>
        </p:nvSpPr>
        <p:spPr>
          <a:xfrm>
            <a:off x="6305550" y="46863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28F349-6563-492F-8BAF-EA8770D05542}"/>
              </a:ext>
            </a:extLst>
          </p:cNvPr>
          <p:cNvSpPr>
            <a:spLocks noGrp="1"/>
          </p:cNvSpPr>
          <p:nvPr/>
        </p:nvSpPr>
        <p:spPr>
          <a:xfrm>
            <a:off x="6896100" y="46482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Applied resilience, security and cost guardrails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BEEA07-90A6-4DE9-9889-BC6EE0120996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FBA7162-99A5-4867-8F31-08904916C041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465692-F302-4DD5-BF87-44BC80584C5B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8763773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3B0BE13-73E1-4265-9CC1-AA09FFF9938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240300-88E4-4758-A1BA-C5DD68A360FF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Courseware and Assessment on the LMS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1A5F59-B2EF-47BC-9AD6-762279B08A2B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B3D6F4B-1E51-4A42-89A2-78354969CB90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3333750" cy="36195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EA43DF-F952-4113-A734-C21F10DF88B7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3333750" cy="114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8A95E2-81EA-4A70-9DD0-4E3349A10ED8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F6FEB"/>
                </a:solidFill>
              </a:defRPr>
            </a:pPr>
            <a:r>
              <a:rPr sz="2400" b="1">
                <a:solidFill>
                  <a:srgbClr val="1F6FEB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A85E4C-4890-4F8D-BB43-B8EC27CD185E}"/>
              </a:ext>
            </a:extLst>
          </p:cNvPr>
          <p:cNvSpPr>
            <a:spLocks noGrp="1"/>
          </p:cNvSpPr>
          <p:nvPr/>
        </p:nvSpPr>
        <p:spPr>
          <a:xfrm>
            <a:off x="857250" y="2714625"/>
            <a:ext cx="2838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Download the PPT and Learner Guide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86A6FD-F169-4C0C-9CF0-4209AA60206E}"/>
              </a:ext>
            </a:extLst>
          </p:cNvPr>
          <p:cNvSpPr>
            <a:spLocks noGrp="1"/>
          </p:cNvSpPr>
          <p:nvPr/>
        </p:nvSpPr>
        <p:spPr>
          <a:xfrm>
            <a:off x="4248150" y="1714500"/>
            <a:ext cx="3333750" cy="36195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AEC1D7-FE98-4CE5-8204-B74746476CBB}"/>
              </a:ext>
            </a:extLst>
          </p:cNvPr>
          <p:cNvSpPr>
            <a:spLocks noGrp="1"/>
          </p:cNvSpPr>
          <p:nvPr/>
        </p:nvSpPr>
        <p:spPr>
          <a:xfrm>
            <a:off x="4248150" y="1714500"/>
            <a:ext cx="3333750" cy="114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6B1BB8-FEF6-4AF7-9F66-C1C17F7672B2}"/>
              </a:ext>
            </a:extLst>
          </p:cNvPr>
          <p:cNvSpPr>
            <a:spLocks noGrp="1"/>
          </p:cNvSpPr>
          <p:nvPr/>
        </p:nvSpPr>
        <p:spPr>
          <a:xfrm>
            <a:off x="4495800" y="20478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0B981"/>
                </a:solidFill>
              </a:defRPr>
            </a:pPr>
            <a:r>
              <a:rPr sz="2400" b="1">
                <a:solidFill>
                  <a:srgbClr val="10B981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31CBE3-5F29-4013-B124-3AE79B747434}"/>
              </a:ext>
            </a:extLst>
          </p:cNvPr>
          <p:cNvSpPr>
            <a:spLocks noGrp="1"/>
          </p:cNvSpPr>
          <p:nvPr/>
        </p:nvSpPr>
        <p:spPr>
          <a:xfrm>
            <a:off x="4495800" y="2714625"/>
            <a:ext cx="2838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Complete the assessment on the LMS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F9D9276-864D-48A8-A95A-98943B4E1C5C}"/>
              </a:ext>
            </a:extLst>
          </p:cNvPr>
          <p:cNvSpPr>
            <a:spLocks noGrp="1"/>
          </p:cNvSpPr>
          <p:nvPr/>
        </p:nvSpPr>
        <p:spPr>
          <a:xfrm>
            <a:off x="7886700" y="1714500"/>
            <a:ext cx="3333750" cy="36195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B61F29-FE3E-4DD9-9557-DE78193B995B}"/>
              </a:ext>
            </a:extLst>
          </p:cNvPr>
          <p:cNvSpPr>
            <a:spLocks noGrp="1"/>
          </p:cNvSpPr>
          <p:nvPr/>
        </p:nvSpPr>
        <p:spPr>
          <a:xfrm>
            <a:off x="7886700" y="1714500"/>
            <a:ext cx="3333750" cy="114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DB7719-5C88-4227-84EB-7F02770C4905}"/>
              </a:ext>
            </a:extLst>
          </p:cNvPr>
          <p:cNvSpPr>
            <a:spLocks noGrp="1"/>
          </p:cNvSpPr>
          <p:nvPr/>
        </p:nvSpPr>
        <p:spPr>
          <a:xfrm>
            <a:off x="8134350" y="20478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7C3AED"/>
                </a:solidFill>
              </a:defRPr>
            </a:pPr>
            <a:r>
              <a:rPr sz="2400" b="1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15" name="Rectangle 14">
            <a:hlinkClick r:id="rId3"/>
            <a:extLst>
              <a:ext uri="{FF2B5EF4-FFF2-40B4-BE49-F238E27FC236}">
                <a16:creationId xmlns:a16="http://schemas.microsoft.com/office/drawing/2014/main" id="{5E4BD029-E1DB-4375-BEB3-802521BA55B0}"/>
              </a:ext>
            </a:extLst>
          </p:cNvPr>
          <p:cNvSpPr>
            <a:spLocks noGrp="1"/>
          </p:cNvSpPr>
          <p:nvPr/>
        </p:nvSpPr>
        <p:spPr>
          <a:xfrm>
            <a:off x="8134350" y="2714625"/>
            <a:ext cx="2838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LMS: https://lms-tms.tertiaryinfotech.com/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B67035-FB69-477A-BA21-020BE4CEFA83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01F398-3C00-4F5A-ABE1-A67CACF0A8B3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5BA00D-B038-45F8-A557-74C8219AC8AC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1271965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8DAB2B7-2FD5-420F-A44C-73943DECB65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PRACTICE EXAM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251769-9321-464A-B99D-E0E779522D77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Prepare with AWS DevOps practice questions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DF8F44-5F88-48E5-ACE7-14A0E4CC91E5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0490F1-CFA7-445F-BB7F-BA1CBD2426AF}"/>
              </a:ext>
            </a:extLst>
          </p:cNvPr>
          <p:cNvSpPr>
            <a:spLocks noGrp="1"/>
          </p:cNvSpPr>
          <p:nvPr/>
        </p:nvSpPr>
        <p:spPr>
          <a:xfrm>
            <a:off x="781050" y="1666875"/>
            <a:ext cx="5095875" cy="3143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Reinforce all AWS DevOps Engineer Professional domains with realistic exam-style questions.</a:t>
            </a:r>
          </a:p>
          <a:p>
            <a:endParaRPr sz="1500" b="0">
              <a:solidFill>
                <a:srgbClr val="111827"/>
              </a:solidFill>
            </a:endParaRPr>
          </a:p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Use timed sets to test SDLC automation, configuration management, monitoring, incident response, security and governance.</a:t>
            </a:r>
          </a:p>
          <a:p>
            <a:endParaRPr sz="1500" b="0">
              <a:solidFill>
                <a:srgbClr val="111827"/>
              </a:solidFill>
            </a:endParaRPr>
          </a:p>
          <a:p>
            <a:pPr algn="l"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• Review incorrect answers and revisit the linked lab evidence.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F85110-D84D-4D7C-B1D8-5D1EC2DE1CF2}"/>
              </a:ext>
            </a:extLst>
          </p:cNvPr>
          <p:cNvSpPr>
            <a:spLocks noGrp="1"/>
          </p:cNvSpPr>
          <p:nvPr/>
        </p:nvSpPr>
        <p:spPr>
          <a:xfrm>
            <a:off x="781050" y="50482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Access and practise at:</a:t>
            </a:r>
          </a:p>
        </p:txBody>
      </p:sp>
      <p:sp>
        <p:nvSpPr>
          <p:cNvPr id="6" name="Rectangle 5">
            <a:hlinkClick r:id="rId3"/>
            <a:extLst>
              <a:ext uri="{FF2B5EF4-FFF2-40B4-BE49-F238E27FC236}">
                <a16:creationId xmlns:a16="http://schemas.microsoft.com/office/drawing/2014/main" id="{27868358-30AC-4608-8985-516E0DFC4EB2}"/>
              </a:ext>
            </a:extLst>
          </p:cNvPr>
          <p:cNvSpPr>
            <a:spLocks noGrp="1"/>
          </p:cNvSpPr>
          <p:nvPr/>
        </p:nvSpPr>
        <p:spPr>
          <a:xfrm>
            <a:off x="781050" y="5381625"/>
            <a:ext cx="4857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F6FEB"/>
                </a:solidFill>
              </a:defRPr>
            </a:pPr>
            <a:r>
              <a:rPr lang="en-SG" sz="1575" b="1">
                <a:solidFill>
                  <a:srgbClr val="1F6FEB"/>
                </a:solidFill>
              </a:rPr>
              <a:t>exams.tertiaryinfotech.com - AWS DOP-C02 Practice Exams</a:t>
            </a:r>
            <a:endParaRPr sz="1575" b="1">
              <a:solidFill>
                <a:srgbClr val="1F6FEB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FF154A-BB5C-4F29-9F62-79D44C9ECB71}"/>
              </a:ext>
            </a:extLst>
          </p:cNvPr>
          <p:cNvSpPr>
            <a:spLocks noGrp="1"/>
          </p:cNvSpPr>
          <p:nvPr/>
        </p:nvSpPr>
        <p:spPr>
          <a:xfrm>
            <a:off x="6191250" y="1666875"/>
            <a:ext cx="5238750" cy="4000500"/>
          </a:xfrm>
          <a:prstGeom prst="roundRect">
            <a:avLst>
              <a:gd name="adj" fmla="val 2857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D46AA5-B144-4F3C-9584-47D3E3CE0300}"/>
              </a:ext>
            </a:extLst>
          </p:cNvPr>
          <p:cNvSpPr>
            <a:spLocks noGrp="1"/>
          </p:cNvSpPr>
          <p:nvPr/>
        </p:nvSpPr>
        <p:spPr>
          <a:xfrm>
            <a:off x="6524625" y="1952625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AWS DevOps Practice Dashboard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EA6437-D635-442B-B8A4-045324CEABF6}"/>
              </a:ext>
            </a:extLst>
          </p:cNvPr>
          <p:cNvSpPr>
            <a:spLocks noGrp="1"/>
          </p:cNvSpPr>
          <p:nvPr/>
        </p:nvSpPr>
        <p:spPr>
          <a:xfrm>
            <a:off x="6524625" y="27146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SDLC automation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60DF2B-2355-4E70-97CA-D4DEA71D5988}"/>
              </a:ext>
            </a:extLst>
          </p:cNvPr>
          <p:cNvSpPr>
            <a:spLocks noGrp="1"/>
          </p:cNvSpPr>
          <p:nvPr/>
        </p:nvSpPr>
        <p:spPr>
          <a:xfrm>
            <a:off x="6524625" y="2990850"/>
            <a:ext cx="4095750" cy="114300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 w="0">
            <a:solidFill>
              <a:srgbClr val="E1E7EF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E02FA14-C9A2-4604-8757-382338E66D6D}"/>
              </a:ext>
            </a:extLst>
          </p:cNvPr>
          <p:cNvSpPr>
            <a:spLocks noGrp="1"/>
          </p:cNvSpPr>
          <p:nvPr/>
        </p:nvSpPr>
        <p:spPr>
          <a:xfrm>
            <a:off x="6524625" y="2990850"/>
            <a:ext cx="3604260" cy="114300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826ED0-BB46-4845-9489-E1D08C30A5C5}"/>
              </a:ext>
            </a:extLst>
          </p:cNvPr>
          <p:cNvSpPr>
            <a:spLocks noGrp="1"/>
          </p:cNvSpPr>
          <p:nvPr/>
        </p:nvSpPr>
        <p:spPr>
          <a:xfrm>
            <a:off x="10668000" y="2905125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F6FEB"/>
                </a:solidFill>
              </a:defRPr>
            </a:pPr>
            <a:r>
              <a:rPr sz="975" b="1">
                <a:solidFill>
                  <a:srgbClr val="1F6FEB"/>
                </a:solidFill>
              </a:rPr>
              <a:t>88%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C779AA-A7BE-4B27-A5AC-CF38B81CDC26}"/>
              </a:ext>
            </a:extLst>
          </p:cNvPr>
          <p:cNvSpPr>
            <a:spLocks noGrp="1"/>
          </p:cNvSpPr>
          <p:nvPr/>
        </p:nvSpPr>
        <p:spPr>
          <a:xfrm>
            <a:off x="6524625" y="32861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Configuration management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71AB0F0-C2D2-4740-B8EA-B7E813FDA659}"/>
              </a:ext>
            </a:extLst>
          </p:cNvPr>
          <p:cNvSpPr>
            <a:spLocks noGrp="1"/>
          </p:cNvSpPr>
          <p:nvPr/>
        </p:nvSpPr>
        <p:spPr>
          <a:xfrm>
            <a:off x="6524625" y="3562350"/>
            <a:ext cx="4095750" cy="114300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 w="0">
            <a:solidFill>
              <a:srgbClr val="E1E7EF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52E0151-3FE7-4F39-B643-13C85D5D9D7A}"/>
              </a:ext>
            </a:extLst>
          </p:cNvPr>
          <p:cNvSpPr>
            <a:spLocks noGrp="1"/>
          </p:cNvSpPr>
          <p:nvPr/>
        </p:nvSpPr>
        <p:spPr>
          <a:xfrm>
            <a:off x="6524625" y="3562350"/>
            <a:ext cx="3358515" cy="1143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9DFCB3-3CEE-4E12-8112-5ECB5F1DA064}"/>
              </a:ext>
            </a:extLst>
          </p:cNvPr>
          <p:cNvSpPr>
            <a:spLocks noGrp="1"/>
          </p:cNvSpPr>
          <p:nvPr/>
        </p:nvSpPr>
        <p:spPr>
          <a:xfrm>
            <a:off x="10668000" y="3476625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10B981"/>
                </a:solidFill>
              </a:defRPr>
            </a:pPr>
            <a:r>
              <a:rPr sz="975" b="1">
                <a:solidFill>
                  <a:srgbClr val="10B981"/>
                </a:solidFill>
              </a:rPr>
              <a:t>82%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5942C8-AD94-4F2B-808B-AC12E87BAAAA}"/>
              </a:ext>
            </a:extLst>
          </p:cNvPr>
          <p:cNvSpPr>
            <a:spLocks noGrp="1"/>
          </p:cNvSpPr>
          <p:nvPr/>
        </p:nvSpPr>
        <p:spPr>
          <a:xfrm>
            <a:off x="6524625" y="38576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Monitoring &amp; incident response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8BD527F-BE73-4D2F-9591-96B07475E894}"/>
              </a:ext>
            </a:extLst>
          </p:cNvPr>
          <p:cNvSpPr>
            <a:spLocks noGrp="1"/>
          </p:cNvSpPr>
          <p:nvPr/>
        </p:nvSpPr>
        <p:spPr>
          <a:xfrm>
            <a:off x="6524625" y="4133850"/>
            <a:ext cx="4095750" cy="114300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 w="0">
            <a:solidFill>
              <a:srgbClr val="E1E7EF"/>
            </a:solidFill>
            <a:prstDash val="solid"/>
          </a:ln>
        </p:spPr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4A11F82-D49A-405B-B72E-191A407622A4}"/>
              </a:ext>
            </a:extLst>
          </p:cNvPr>
          <p:cNvSpPr>
            <a:spLocks noGrp="1"/>
          </p:cNvSpPr>
          <p:nvPr/>
        </p:nvSpPr>
        <p:spPr>
          <a:xfrm>
            <a:off x="6524625" y="4133850"/>
            <a:ext cx="3112770" cy="1143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4E71B7-5A92-49A5-9EEA-CFE0BDE46C71}"/>
              </a:ext>
            </a:extLst>
          </p:cNvPr>
          <p:cNvSpPr>
            <a:spLocks noGrp="1"/>
          </p:cNvSpPr>
          <p:nvPr/>
        </p:nvSpPr>
        <p:spPr>
          <a:xfrm>
            <a:off x="10668000" y="4048125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76%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DC544F-93C8-4D5C-8C04-E6A19537962C}"/>
              </a:ext>
            </a:extLst>
          </p:cNvPr>
          <p:cNvSpPr>
            <a:spLocks noGrp="1"/>
          </p:cNvSpPr>
          <p:nvPr/>
        </p:nvSpPr>
        <p:spPr>
          <a:xfrm>
            <a:off x="6524625" y="44291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4B5563"/>
                </a:solidFill>
              </a:defRPr>
            </a:pPr>
            <a:r>
              <a:rPr sz="1125" b="1">
                <a:solidFill>
                  <a:srgbClr val="4B5563"/>
                </a:solidFill>
              </a:rPr>
              <a:t>Policies &amp; standards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B4E7BEE-D6B6-44F7-A555-32CE4FEB0AD8}"/>
              </a:ext>
            </a:extLst>
          </p:cNvPr>
          <p:cNvSpPr>
            <a:spLocks noGrp="1"/>
          </p:cNvSpPr>
          <p:nvPr/>
        </p:nvSpPr>
        <p:spPr>
          <a:xfrm>
            <a:off x="6524625" y="4705350"/>
            <a:ext cx="4095750" cy="114300"/>
          </a:xfrm>
          <a:prstGeom prst="roundRect">
            <a:avLst>
              <a:gd name="adj" fmla="val 50000"/>
            </a:avLst>
          </a:prstGeom>
          <a:solidFill>
            <a:srgbClr val="E1E7EF"/>
          </a:solidFill>
          <a:ln w="0">
            <a:solidFill>
              <a:srgbClr val="E1E7EF"/>
            </a:solidFill>
            <a:prstDash val="solid"/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D63A1FC-D19E-4A0F-92BF-684602B36B58}"/>
              </a:ext>
            </a:extLst>
          </p:cNvPr>
          <p:cNvSpPr>
            <a:spLocks noGrp="1"/>
          </p:cNvSpPr>
          <p:nvPr/>
        </p:nvSpPr>
        <p:spPr>
          <a:xfrm>
            <a:off x="6524625" y="4705350"/>
            <a:ext cx="2867025" cy="114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95B15E-6679-4512-9453-F3CB53944451}"/>
              </a:ext>
            </a:extLst>
          </p:cNvPr>
          <p:cNvSpPr>
            <a:spLocks noGrp="1"/>
          </p:cNvSpPr>
          <p:nvPr/>
        </p:nvSpPr>
        <p:spPr>
          <a:xfrm>
            <a:off x="10668000" y="4619625"/>
            <a:ext cx="52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70%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6B7F6F-BE31-4F02-97E8-3727320B519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7C8C93-0AD2-4D03-AC4B-E83B9FFCEC37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15B066-1E31-4994-A535-3FC8C62C748B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7581093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D62DDE70-EA62-4771-A463-00424E2599C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ASSESSMENT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AA2DB7-632E-452D-B9FC-5417AEAAEB29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Final Assessment Reminder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48CB9A-3EE4-4AAA-A174-A45F53B020C9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79FF103-9FB6-48EE-8845-71465362C15C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3333750" cy="36195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46B729-1050-4AF6-8EAC-6B134C68EDEC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3333750" cy="114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845B0A-A5AD-4339-8996-C4CDAE3F998E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F6FEB"/>
                </a:solidFill>
              </a:defRPr>
            </a:pPr>
            <a:r>
              <a:rPr sz="2400" b="1">
                <a:solidFill>
                  <a:srgbClr val="1F6FEB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99A137-C1AC-4D8C-9777-0CD3B53C20E4}"/>
              </a:ext>
            </a:extLst>
          </p:cNvPr>
          <p:cNvSpPr>
            <a:spLocks noGrp="1"/>
          </p:cNvSpPr>
          <p:nvPr/>
        </p:nvSpPr>
        <p:spPr>
          <a:xfrm>
            <a:off x="857250" y="2714625"/>
            <a:ext cx="2838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Written Assessment - 1 hour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162596-0D57-44A9-B324-66EE909F1F09}"/>
              </a:ext>
            </a:extLst>
          </p:cNvPr>
          <p:cNvSpPr>
            <a:spLocks noGrp="1"/>
          </p:cNvSpPr>
          <p:nvPr/>
        </p:nvSpPr>
        <p:spPr>
          <a:xfrm>
            <a:off x="4248150" y="1714500"/>
            <a:ext cx="3333750" cy="36195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7BBA56-713F-4B9F-89DD-0DCFF9CB6794}"/>
              </a:ext>
            </a:extLst>
          </p:cNvPr>
          <p:cNvSpPr>
            <a:spLocks noGrp="1"/>
          </p:cNvSpPr>
          <p:nvPr/>
        </p:nvSpPr>
        <p:spPr>
          <a:xfrm>
            <a:off x="4248150" y="1714500"/>
            <a:ext cx="3333750" cy="114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533FA8-4D33-419D-AD96-1F31A2F517AB}"/>
              </a:ext>
            </a:extLst>
          </p:cNvPr>
          <p:cNvSpPr>
            <a:spLocks noGrp="1"/>
          </p:cNvSpPr>
          <p:nvPr/>
        </p:nvSpPr>
        <p:spPr>
          <a:xfrm>
            <a:off x="4495800" y="20478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10B981"/>
                </a:solidFill>
              </a:defRPr>
            </a:pPr>
            <a:r>
              <a:rPr sz="2400" b="1">
                <a:solidFill>
                  <a:srgbClr val="10B981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E51863-BCEB-4088-BDA2-2CA4BE1175F7}"/>
              </a:ext>
            </a:extLst>
          </p:cNvPr>
          <p:cNvSpPr>
            <a:spLocks noGrp="1"/>
          </p:cNvSpPr>
          <p:nvPr/>
        </p:nvSpPr>
        <p:spPr>
          <a:xfrm>
            <a:off x="4495800" y="2714625"/>
            <a:ext cx="2838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Practical Performance - 1 hour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CAFFE6A-5F9C-48F9-BB54-4EFFD4BF84B0}"/>
              </a:ext>
            </a:extLst>
          </p:cNvPr>
          <p:cNvSpPr>
            <a:spLocks noGrp="1"/>
          </p:cNvSpPr>
          <p:nvPr/>
        </p:nvSpPr>
        <p:spPr>
          <a:xfrm>
            <a:off x="7886700" y="1714500"/>
            <a:ext cx="3333750" cy="36195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A500C5-D5FF-4CC8-9C38-59C497DB4896}"/>
              </a:ext>
            </a:extLst>
          </p:cNvPr>
          <p:cNvSpPr>
            <a:spLocks noGrp="1"/>
          </p:cNvSpPr>
          <p:nvPr/>
        </p:nvSpPr>
        <p:spPr>
          <a:xfrm>
            <a:off x="7886700" y="1714500"/>
            <a:ext cx="3333750" cy="114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A6D4C6-1036-4D18-A66E-9E7079D0B8A3}"/>
              </a:ext>
            </a:extLst>
          </p:cNvPr>
          <p:cNvSpPr>
            <a:spLocks noGrp="1"/>
          </p:cNvSpPr>
          <p:nvPr/>
        </p:nvSpPr>
        <p:spPr>
          <a:xfrm>
            <a:off x="8134350" y="2047875"/>
            <a:ext cx="495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400" b="1">
                <a:solidFill>
                  <a:srgbClr val="7C3AED"/>
                </a:solidFill>
              </a:defRPr>
            </a:pPr>
            <a:r>
              <a:rPr sz="2400" b="1">
                <a:solidFill>
                  <a:srgbClr val="7C3AED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AF3E7B-F88C-49CC-AC48-D5787A3F1E92}"/>
              </a:ext>
            </a:extLst>
          </p:cNvPr>
          <p:cNvSpPr>
            <a:spLocks noGrp="1"/>
          </p:cNvSpPr>
          <p:nvPr/>
        </p:nvSpPr>
        <p:spPr>
          <a:xfrm>
            <a:off x="8134350" y="2714625"/>
            <a:ext cx="28384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Open book; submit on LMS and retain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B5326A-5B04-4137-906D-CD22C051D8D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E5B6E5-3237-43E3-BB11-634E17649F59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695AA7-413C-4086-8334-7FCC5A585C99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4439214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B9899ED-864D-4C5B-BEE2-C8FBA9156F5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F6FEB"/>
                </a:solidFill>
              </a:defRPr>
            </a:pPr>
            <a:r>
              <a:rPr sz="1050" b="1">
                <a:solidFill>
                  <a:srgbClr val="1F6FEB"/>
                </a:solidFill>
              </a:rPr>
              <a:t>ASSESSMENT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AE9C89-3C29-4643-B9F0-2AFEFFE88B41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Assessment Flow Reminder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B50E77-A755-401C-AC1E-356313987997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E15C46-E0C3-4C23-A700-5C5ED0058D5B}"/>
              </a:ext>
            </a:extLst>
          </p:cNvPr>
          <p:cNvSpPr>
            <a:spLocks noGrp="1"/>
          </p:cNvSpPr>
          <p:nvPr/>
        </p:nvSpPr>
        <p:spPr>
          <a:xfrm>
            <a:off x="647700" y="2143125"/>
            <a:ext cx="20002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9C418C-8989-4600-8E30-767DE68F0C15}"/>
              </a:ext>
            </a:extLst>
          </p:cNvPr>
          <p:cNvSpPr>
            <a:spLocks noGrp="1"/>
          </p:cNvSpPr>
          <p:nvPr/>
        </p:nvSpPr>
        <p:spPr>
          <a:xfrm>
            <a:off x="819150" y="2333625"/>
            <a:ext cx="495300" cy="495300"/>
          </a:xfrm>
          <a:prstGeom prst="ellipse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07937B-0FC1-4ECC-ABBD-803ADB19796A}"/>
              </a:ext>
            </a:extLst>
          </p:cNvPr>
          <p:cNvSpPr>
            <a:spLocks noGrp="1"/>
          </p:cNvSpPr>
          <p:nvPr/>
        </p:nvSpPr>
        <p:spPr>
          <a:xfrm>
            <a:off x="942975" y="2447925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48584E-764F-4A17-B33F-0324B2B5365A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1543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TRAQOM digital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attendance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E61E65-BE71-4FCC-88FB-C6592DF52C5F}"/>
              </a:ext>
            </a:extLst>
          </p:cNvPr>
          <p:cNvSpPr>
            <a:spLocks noGrp="1"/>
          </p:cNvSpPr>
          <p:nvPr/>
        </p:nvSpPr>
        <p:spPr>
          <a:xfrm>
            <a:off x="2619375" y="2857500"/>
            <a:ext cx="28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75" b="1">
                <a:solidFill>
                  <a:srgbClr val="4B5563"/>
                </a:solidFill>
              </a:defRPr>
            </a:pPr>
            <a:r>
              <a:rPr sz="2475" b="1">
                <a:solidFill>
                  <a:srgbClr val="4B5563"/>
                </a:solidFill>
              </a:rPr>
              <a:t>›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988043-4AE9-4C4E-9AF6-3427F8174889}"/>
              </a:ext>
            </a:extLst>
          </p:cNvPr>
          <p:cNvSpPr>
            <a:spLocks noGrp="1"/>
          </p:cNvSpPr>
          <p:nvPr/>
        </p:nvSpPr>
        <p:spPr>
          <a:xfrm>
            <a:off x="2886075" y="2143125"/>
            <a:ext cx="20002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F36F905-7C73-467C-8C16-3EDE2ED450D6}"/>
              </a:ext>
            </a:extLst>
          </p:cNvPr>
          <p:cNvSpPr>
            <a:spLocks noGrp="1"/>
          </p:cNvSpPr>
          <p:nvPr/>
        </p:nvSpPr>
        <p:spPr>
          <a:xfrm>
            <a:off x="3057525" y="2333625"/>
            <a:ext cx="495300" cy="495300"/>
          </a:xfrm>
          <a:prstGeom prst="ellipse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951BF4-E51B-4AFB-B82A-A2B6CBDCF7E7}"/>
              </a:ext>
            </a:extLst>
          </p:cNvPr>
          <p:cNvSpPr>
            <a:spLocks noGrp="1"/>
          </p:cNvSpPr>
          <p:nvPr/>
        </p:nvSpPr>
        <p:spPr>
          <a:xfrm>
            <a:off x="3181350" y="2447925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B29FD1-64EF-41C2-9326-55A256FDD1DF}"/>
              </a:ext>
            </a:extLst>
          </p:cNvPr>
          <p:cNvSpPr>
            <a:spLocks noGrp="1"/>
          </p:cNvSpPr>
          <p:nvPr/>
        </p:nvSpPr>
        <p:spPr>
          <a:xfrm>
            <a:off x="3114675" y="3048000"/>
            <a:ext cx="1543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Assessment digital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attendance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8B88B6-30E5-4E4E-AF11-200E661F0240}"/>
              </a:ext>
            </a:extLst>
          </p:cNvPr>
          <p:cNvSpPr>
            <a:spLocks noGrp="1"/>
          </p:cNvSpPr>
          <p:nvPr/>
        </p:nvSpPr>
        <p:spPr>
          <a:xfrm>
            <a:off x="4857750" y="2857500"/>
            <a:ext cx="28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75" b="1">
                <a:solidFill>
                  <a:srgbClr val="4B5563"/>
                </a:solidFill>
              </a:defRPr>
            </a:pPr>
            <a:r>
              <a:rPr sz="2475" b="1">
                <a:solidFill>
                  <a:srgbClr val="4B5563"/>
                </a:solidFill>
              </a:rPr>
              <a:t>›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CBFA1FF-6F84-4DB6-A279-A5A182ED92A2}"/>
              </a:ext>
            </a:extLst>
          </p:cNvPr>
          <p:cNvSpPr>
            <a:spLocks noGrp="1"/>
          </p:cNvSpPr>
          <p:nvPr/>
        </p:nvSpPr>
        <p:spPr>
          <a:xfrm>
            <a:off x="5124450" y="2143125"/>
            <a:ext cx="20002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DB609A-9C6D-4F13-98BF-D32681DBBF86}"/>
              </a:ext>
            </a:extLst>
          </p:cNvPr>
          <p:cNvSpPr>
            <a:spLocks noGrp="1"/>
          </p:cNvSpPr>
          <p:nvPr/>
        </p:nvSpPr>
        <p:spPr>
          <a:xfrm>
            <a:off x="5295900" y="2333625"/>
            <a:ext cx="495300" cy="495300"/>
          </a:xfrm>
          <a:prstGeom prst="ellipse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587F94-B3A7-4C38-862E-4D936B921078}"/>
              </a:ext>
            </a:extLst>
          </p:cNvPr>
          <p:cNvSpPr>
            <a:spLocks noGrp="1"/>
          </p:cNvSpPr>
          <p:nvPr/>
        </p:nvSpPr>
        <p:spPr>
          <a:xfrm>
            <a:off x="5419725" y="2447925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A14B99-391E-49B2-89BA-2C55B6BC0947}"/>
              </a:ext>
            </a:extLst>
          </p:cNvPr>
          <p:cNvSpPr>
            <a:spLocks noGrp="1"/>
          </p:cNvSpPr>
          <p:nvPr/>
        </p:nvSpPr>
        <p:spPr>
          <a:xfrm>
            <a:off x="5353050" y="3048000"/>
            <a:ext cx="1543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Sit WA then PP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C9A0B4-B072-41ED-A12F-3E55987D074B}"/>
              </a:ext>
            </a:extLst>
          </p:cNvPr>
          <p:cNvSpPr>
            <a:spLocks noGrp="1"/>
          </p:cNvSpPr>
          <p:nvPr/>
        </p:nvSpPr>
        <p:spPr>
          <a:xfrm>
            <a:off x="7096125" y="2857500"/>
            <a:ext cx="28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75" b="1">
                <a:solidFill>
                  <a:srgbClr val="4B5563"/>
                </a:solidFill>
              </a:defRPr>
            </a:pPr>
            <a:r>
              <a:rPr sz="2475" b="1">
                <a:solidFill>
                  <a:srgbClr val="4B5563"/>
                </a:solidFill>
              </a:rPr>
              <a:t>›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5AB834B-2B32-4D9B-A042-7AC86ACDFCB8}"/>
              </a:ext>
            </a:extLst>
          </p:cNvPr>
          <p:cNvSpPr>
            <a:spLocks noGrp="1"/>
          </p:cNvSpPr>
          <p:nvPr/>
        </p:nvSpPr>
        <p:spPr>
          <a:xfrm>
            <a:off x="7362825" y="2143125"/>
            <a:ext cx="20002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7B73B0C-87D6-46AB-B66A-4F1F1A5A68C7}"/>
              </a:ext>
            </a:extLst>
          </p:cNvPr>
          <p:cNvSpPr>
            <a:spLocks noGrp="1"/>
          </p:cNvSpPr>
          <p:nvPr/>
        </p:nvSpPr>
        <p:spPr>
          <a:xfrm>
            <a:off x="7534275" y="2333625"/>
            <a:ext cx="495300" cy="495300"/>
          </a:xfrm>
          <a:prstGeom prst="ellipse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C81024-D676-4569-8C54-1916D00F9EFF}"/>
              </a:ext>
            </a:extLst>
          </p:cNvPr>
          <p:cNvSpPr>
            <a:spLocks noGrp="1"/>
          </p:cNvSpPr>
          <p:nvPr/>
        </p:nvSpPr>
        <p:spPr>
          <a:xfrm>
            <a:off x="7658100" y="2447925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7A7E4FE-A9B7-4503-9BF6-123680413727}"/>
              </a:ext>
            </a:extLst>
          </p:cNvPr>
          <p:cNvSpPr>
            <a:spLocks noGrp="1"/>
          </p:cNvSpPr>
          <p:nvPr/>
        </p:nvSpPr>
        <p:spPr>
          <a:xfrm>
            <a:off x="7591425" y="3048000"/>
            <a:ext cx="1543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Submit answers on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the LMS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5B58C3-B3B1-4151-8433-B40B396CAE6B}"/>
              </a:ext>
            </a:extLst>
          </p:cNvPr>
          <p:cNvSpPr>
            <a:spLocks noGrp="1"/>
          </p:cNvSpPr>
          <p:nvPr/>
        </p:nvSpPr>
        <p:spPr>
          <a:xfrm>
            <a:off x="9334500" y="2857500"/>
            <a:ext cx="28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75" b="1">
                <a:solidFill>
                  <a:srgbClr val="4B5563"/>
                </a:solidFill>
              </a:defRPr>
            </a:pPr>
            <a:r>
              <a:rPr sz="2475" b="1">
                <a:solidFill>
                  <a:srgbClr val="4B5563"/>
                </a:solidFill>
              </a:rPr>
              <a:t>›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DCFD8CA-BD9C-4224-B4E2-79078DA2C94E}"/>
              </a:ext>
            </a:extLst>
          </p:cNvPr>
          <p:cNvSpPr>
            <a:spLocks noGrp="1"/>
          </p:cNvSpPr>
          <p:nvPr/>
        </p:nvSpPr>
        <p:spPr>
          <a:xfrm>
            <a:off x="9601200" y="2143125"/>
            <a:ext cx="2000250" cy="180975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FE2FCC9-CD4E-4FDC-A775-9E7DE059FCEC}"/>
              </a:ext>
            </a:extLst>
          </p:cNvPr>
          <p:cNvSpPr>
            <a:spLocks noGrp="1"/>
          </p:cNvSpPr>
          <p:nvPr/>
        </p:nvSpPr>
        <p:spPr>
          <a:xfrm>
            <a:off x="9772650" y="2333625"/>
            <a:ext cx="495300" cy="495300"/>
          </a:xfrm>
          <a:prstGeom prst="ellipse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7568AE-CE2E-4F15-984A-0B49252EB884}"/>
              </a:ext>
            </a:extLst>
          </p:cNvPr>
          <p:cNvSpPr>
            <a:spLocks noGrp="1"/>
          </p:cNvSpPr>
          <p:nvPr/>
        </p:nvSpPr>
        <p:spPr>
          <a:xfrm>
            <a:off x="9896475" y="2447925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1175B8-2AAA-4155-9236-3A4A8A70889D}"/>
              </a:ext>
            </a:extLst>
          </p:cNvPr>
          <p:cNvSpPr>
            <a:spLocks noGrp="1"/>
          </p:cNvSpPr>
          <p:nvPr/>
        </p:nvSpPr>
        <p:spPr>
          <a:xfrm>
            <a:off x="9829800" y="3048000"/>
            <a:ext cx="1543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Sign Assessment</a:t>
            </a:r>
          </a:p>
          <a:p>
            <a:pPr algn="ctr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Summary Record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D8A63C-BF7E-4804-B11B-D40F50AEAC4D}"/>
              </a:ext>
            </a:extLst>
          </p:cNvPr>
          <p:cNvSpPr>
            <a:spLocks noGrp="1"/>
          </p:cNvSpPr>
          <p:nvPr/>
        </p:nvSpPr>
        <p:spPr>
          <a:xfrm>
            <a:off x="1714500" y="4762500"/>
            <a:ext cx="8763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0">
                <a:solidFill>
                  <a:srgbClr val="4B5563"/>
                </a:solidFill>
              </a:defRPr>
            </a:pPr>
            <a:r>
              <a:rPr sz="1575" b="0">
                <a:solidFill>
                  <a:srgbClr val="4B5563"/>
                </a:solidFill>
              </a:rPr>
              <a:t>The TRAQOM QR code and assessment submission are both handled through the LMS/TMS portal.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9F62D2C-CD0B-486F-A282-770FD00F6EDA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A4378E6-69F9-4308-8DFB-83E97BD43EA7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899B4AC-626F-462B-9C91-4D094CE17A5A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8854610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86E7173-2E2B-426A-85CA-BEFDA9F8C84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MANDATORY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3931C0-0D28-4BEE-AC17-DEB22BCCF799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53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Digital Attendance (TRAQOM · SSG)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5E0D84-7B06-472A-960A-0204694FD754}"/>
              </a:ext>
            </a:extLst>
          </p:cNvPr>
          <p:cNvSpPr>
            <a:spLocks noGrp="1"/>
          </p:cNvSpPr>
          <p:nvPr/>
        </p:nvSpPr>
        <p:spPr>
          <a:xfrm>
            <a:off x="609600" y="1181100"/>
            <a:ext cx="857250" cy="47625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75DEC67-0CFF-4920-AD54-B72BA76A5A46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02D2B6-74B1-4E98-BF64-BA303D47176A}"/>
              </a:ext>
            </a:extLst>
          </p:cNvPr>
          <p:cNvSpPr>
            <a:spLocks noGrp="1"/>
          </p:cNvSpPr>
          <p:nvPr/>
        </p:nvSpPr>
        <p:spPr>
          <a:xfrm>
            <a:off x="609600" y="1466850"/>
            <a:ext cx="76200" cy="1257300"/>
          </a:xfrm>
          <a:prstGeom prst="rect">
            <a:avLst/>
          </a:prstGeom>
          <a:solidFill>
            <a:srgbClr val="1F6FEB"/>
          </a:solidFill>
          <a:ln w="0">
            <a:solidFill>
              <a:srgbClr val="1F6FEB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4C2E8D-684E-412B-9677-293B3B3CE28F}"/>
              </a:ext>
            </a:extLst>
          </p:cNvPr>
          <p:cNvSpPr>
            <a:spLocks noGrp="1"/>
          </p:cNvSpPr>
          <p:nvPr/>
        </p:nvSpPr>
        <p:spPr>
          <a:xfrm>
            <a:off x="83820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F6FEB"/>
                </a:solidFill>
              </a:defRPr>
            </a:pPr>
            <a:r>
              <a:rPr sz="1500" b="1">
                <a:solidFill>
                  <a:srgbClr val="1F6FE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AB509F-7C82-46A4-9B46-82F00E9737D5}"/>
              </a:ext>
            </a:extLst>
          </p:cNvPr>
          <p:cNvSpPr>
            <a:spLocks noGrp="1"/>
          </p:cNvSpPr>
          <p:nvPr/>
        </p:nvSpPr>
        <p:spPr>
          <a:xfrm>
            <a:off x="142875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Complete the assessment attendance record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B092B4-3C8E-4528-812D-7C68134C4BE7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784BB3-8733-4681-ADB8-B69200015D4C}"/>
              </a:ext>
            </a:extLst>
          </p:cNvPr>
          <p:cNvSpPr>
            <a:spLocks noGrp="1"/>
          </p:cNvSpPr>
          <p:nvPr/>
        </p:nvSpPr>
        <p:spPr>
          <a:xfrm>
            <a:off x="6076950" y="1466850"/>
            <a:ext cx="76200" cy="1257300"/>
          </a:xfrm>
          <a:prstGeom prst="rect">
            <a:avLst/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E0BC5C-3025-456E-999F-6288CE5B9368}"/>
              </a:ext>
            </a:extLst>
          </p:cNvPr>
          <p:cNvSpPr>
            <a:spLocks noGrp="1"/>
          </p:cNvSpPr>
          <p:nvPr/>
        </p:nvSpPr>
        <p:spPr>
          <a:xfrm>
            <a:off x="6305550" y="167640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7925BF-D3B8-4AC1-BB7D-75713E908642}"/>
              </a:ext>
            </a:extLst>
          </p:cNvPr>
          <p:cNvSpPr>
            <a:spLocks noGrp="1"/>
          </p:cNvSpPr>
          <p:nvPr/>
        </p:nvSpPr>
        <p:spPr>
          <a:xfrm>
            <a:off x="6896100" y="163830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Use your registered learner details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DA5F388-73C7-48D4-B491-E748AD0E6932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3F7FB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64A52D-0580-4651-AE5C-BE6D644D6711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76200" cy="12573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86CBAC-6F6F-4F5B-8E47-A7F595D9F114}"/>
              </a:ext>
            </a:extLst>
          </p:cNvPr>
          <p:cNvSpPr>
            <a:spLocks noGrp="1"/>
          </p:cNvSpPr>
          <p:nvPr/>
        </p:nvSpPr>
        <p:spPr>
          <a:xfrm>
            <a:off x="83820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1CF26C-88F0-4B0D-9EF7-E44308B08B2C}"/>
              </a:ext>
            </a:extLst>
          </p:cNvPr>
          <p:cNvSpPr>
            <a:spLocks noGrp="1"/>
          </p:cNvSpPr>
          <p:nvPr/>
        </p:nvSpPr>
        <p:spPr>
          <a:xfrm>
            <a:off x="142875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Confirm successful submission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D7DB5EC-4D1D-47C7-84A4-E92A0040378A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5219700" cy="125730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D8E0E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B50A1A-180B-47E8-8583-79060053574F}"/>
              </a:ext>
            </a:extLst>
          </p:cNvPr>
          <p:cNvSpPr>
            <a:spLocks noGrp="1"/>
          </p:cNvSpPr>
          <p:nvPr/>
        </p:nvSpPr>
        <p:spPr>
          <a:xfrm>
            <a:off x="6076950" y="2971800"/>
            <a:ext cx="76200" cy="1257300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43B8EA-4E64-4D3B-87AC-A259B6509667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514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A80A3DE-F744-4FE5-A230-EB22A88D68A1}"/>
              </a:ext>
            </a:extLst>
          </p:cNvPr>
          <p:cNvSpPr>
            <a:spLocks noGrp="1"/>
          </p:cNvSpPr>
          <p:nvPr/>
        </p:nvSpPr>
        <p:spPr>
          <a:xfrm>
            <a:off x="6896100" y="3143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Inform the assessor if the record fails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ED0A18-F679-499F-8C3D-3004C53F6F1B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2F30E0-5F06-44C4-A333-BDAAD1774B8B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014185-45BA-445A-88FF-18D64AD8B969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3463910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0414D66-E001-4DFB-81C9-0305546D3183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10287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B05418-F118-44AB-8A79-5EA90389A71C}"/>
              </a:ext>
            </a:extLst>
          </p:cNvPr>
          <p:cNvSpPr>
            <a:spLocks noGrp="1"/>
          </p:cNvSpPr>
          <p:nvPr/>
        </p:nvSpPr>
        <p:spPr>
          <a:xfrm>
            <a:off x="1714500" y="3190875"/>
            <a:ext cx="8763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0">
                <a:solidFill>
                  <a:srgbClr val="D7E3F4"/>
                </a:solidFill>
              </a:defRPr>
            </a:pPr>
            <a:r>
              <a:rPr sz="1875" b="0">
                <a:solidFill>
                  <a:srgbClr val="D7E3F4"/>
                </a:solidFill>
              </a:rPr>
              <a:t>Apply the lab evidence to your AWS DevOps practice and exam preparation.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D30656-D699-448D-996F-515F60E2125E}"/>
              </a:ext>
            </a:extLst>
          </p:cNvPr>
          <p:cNvSpPr>
            <a:spLocks noGrp="1"/>
          </p:cNvSpPr>
          <p:nvPr/>
        </p:nvSpPr>
        <p:spPr>
          <a:xfrm>
            <a:off x="1619250" y="4953000"/>
            <a:ext cx="895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0">
                <a:solidFill>
                  <a:srgbClr val="10B981"/>
                </a:solidFill>
              </a:defRPr>
            </a:pPr>
            <a:r>
              <a:rPr sz="1275" b="0">
                <a:solidFill>
                  <a:srgbClr val="10B981"/>
                </a:solidFill>
              </a:rPr>
              <a:t>enquiry@tertiaryinfotech.com  |  +65 6100 0613  |  www.tertiarycourses.com.sg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93E084-A8AE-427A-8B7D-D4930C33DD5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AWS Certified DevOps Engineer Professional Training | TGS-2025054815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C35373-89B9-4040-8544-BAB165683BF3}"/>
              </a:ext>
            </a:extLst>
          </p:cNvPr>
          <p:cNvSpPr>
            <a:spLocks noGrp="1"/>
          </p:cNvSpPr>
          <p:nvPr/>
        </p:nvSpPr>
        <p:spPr>
          <a:xfrm>
            <a:off x="752475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© Tertiary Infotech Academy Pte Ltd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D62405-8BBB-4E67-8211-94E6D6BFD64D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0">
                <a:solidFill>
                  <a:srgbClr val="4B5563"/>
                </a:solidFill>
              </a:defRPr>
            </a:pPr>
            <a:r>
              <a:rPr sz="825" b="0">
                <a:solidFill>
                  <a:srgbClr val="4B5563"/>
                </a:solidFill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9373556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3395</Words>
  <Application>Microsoft Office PowerPoint</Application>
  <DocSecurity>0</DocSecurity>
  <PresentationFormat>Widescreen</PresentationFormat>
  <Paragraphs>715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8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Evan Pang</cp:lastModifiedBy>
  <cp:revision>1</cp:revision>
  <dcterms:created xsi:type="dcterms:W3CDTF">2026-07-13T08:38:01Z</dcterms:created>
  <dcterms:modified xsi:type="dcterms:W3CDTF">2026-07-13T08:49:05Z</dcterms:modified>
</cp:coreProperties>
</file>